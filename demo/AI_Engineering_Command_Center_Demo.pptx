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naming the pain, not the product: engineers lose time every day stitching together Jira, GitHub, CI/CD, monitoring, and logs by hand to answer simple questions like "is this release healthy?". This project is a conversational command center that does that correlation for you. Keep this slide under 20 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pain concretely: to triage one incident, an engineer today has to open five separate tabs and manually connect the dots — a failed build here, an open incident there, a blocked ticket somewhere else — with nothing tying them together. That manual correlation is the actual bottleneck, not any one tool being bad on its 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pitch: one orchestrator agent, not five separate dashboards or five separate bots. It decides which of the six tools to call based on the question, pulls the relevant data itself, and — critically — correlates across sources instead of just listing results. Emphasize the example: failed build + open incident + blocked sprint issue becomes ONE risk story with a recommended action, not three unrelated alerts.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screenshot, not a mockup — captured live against the running app with USE_MOCK_DATA=false, real GitHub/Jira MCP connections, and the manager@example.com demo account. Point out three things: the tool chips under the reply (get_sprint_status, get_build_status, get_incident_history, get_uptime) show exactly which signals the agent pulled for this answer; the reply itself correlates all of them into one paragraph instead of listing four separate stats; and the Sources panel in the sidebar shows Jira/GitHub/CI-CD as live (green) vs. Monitoring/Incidents as mock (gray) — this is the StatusBar component that polls GET /api/integrations/status.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React chat UI hits POST /api/chat, which runs the orchestrator's tool-use loop against NVIDIA NIM. The orchestrator dispatches to six tools, each backed by an integration client. GitHub and Jira go through their official remote MCP servers rather than raw REST calls — call this out, it's a deliberate and non-trivial choice. Log search is a RAG pipeline over Postgres/pgvector. If asked 'why not just call the REST APIs directly', explain MCP gives a stable, standardized tool surface instead of each client hand-rolling auth and endpoint quirks per vendor.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'we actually built and debugged this against real systems' slide — each point came from a real constraint discovered during development, not a design doc. The single-tool-call point is a good story if asked: the default model (kimi-k2.6) hard-rejects batched tool calls with a 400 error, so the orchestrator forces one tool call per turn (parallel_tool_calls=False) rather than switching models. The zero-param tools point: an earlier version let the model pass a target repo/project per call, and a smaller model would hallucinate a plausible-but-wrong one — removing the parameter removed the failure mode entirely.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reference slide, don't over-narrate — move fast. Worth flagging if asked: the primary model needs per-account approval on NVIDIA NIM even when catalog-listed, which is why there's an automatic fallback model wired in (meta/llama-3.1-70b-instruct) rather than the app just failing on a fresh account. Also nv-embedqa-e5-v5 was chosen over a catalog-listed alternative that looked fine but 500'd on every real embeddings call.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to alt-tab into the running app. Ask this exact question (or something close to it) live so the audience sees the tool call happen in real time, not just a canned answer. If the demo environment is offline or credentials aren't handy, narrate the five steps on this slide as a fallback and mention USE_MOCK_DATA lets the whole flow run end-to-end with zero external credentials — that's worth saying even if the live demo works, since it explains why the demo is low-risk to run in front of judges.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this is a foundation, not a finished product, without undercutting what's already working. Monitoring is the one source that's always mock (no universal vendor API exists) — that's the most obvious next real-data integration. The 'more signal sources' point is a good chance to reinforce the extensibility story: adding a new source is a 2-step add (client + tool registration), no orchestrator changes needed.</a:t>
            </a:r>
          </a:p>
          <a:p/>
          <a:p>
            <a:r>
              <a:t>Q&amp;A PREP — likely questions and grounded answers, by topic:</a:t>
            </a:r>
          </a:p>
          <a:p/>
          <a:p>
            <a:r>
              <a:t>PRODUCT: Different from just checking dashboards? Dashboards show per-system numbers; this agent correlates across them (failed build + open incident + blocked sprint issue = one risk story with a recommended action).</a:t>
            </a:r>
          </a:p>
          <a:p/>
          <a:p>
            <a:r>
              <a:t>ARCHITECTURE: Why one orchestrator, not multiple agents? Simpler failure modes, one place to reason about tool choice, no inter-agent coordination needed for a single-user chat loop. Why one tool call per turn? Default model (kimi-k2.6) hard-rejects batched tool_calls with a 400; parallel_tool_calls=False forces one per turn; MAX_TOOL_ITERATIONS=8 covers 5 tools + 1 synthesis turn with margin. Why zero-param tools? An earlier version let the model pick a target repo/project per call and a smaller model hallucinated plausible-but-wrong values — removing the parameter removed the failure mode. Why GitHub/Jira via remote MCP not REST? Standardized tool surface instead of hand-rolling auth/parsing per vendor. What if NIM is down/rate-limited? timeout=20s, max_retries=1, no pooling, clean 502/503/504 instead of a hang; automatic fallback to meta/llama-3.1-70b-instruct mid-run if the primary model fails. Why pgvector? Reuses the same Postgres instance already used for app data, no extra infra.</a:t>
            </a:r>
          </a:p>
          <a:p/>
          <a:p>
            <a:r>
              <a:t>SECURITY: Prompt injection via tool output (e.g. malicious commit message)? System prompt treats tool output as data, never instructions, verified live against a jailbreak-style prompt. Chat guardrails? 422 on empty/&gt;4000-char messages, per-IP rate limit (20/min default, 429 + Retry-After, in-memory — abuse mitigation not a security boundary). Auth? JWT access token + httponly refresh cookie; refresh-token reuse revokes all sessions for that user (theft-detection pattern). Zero-credential demo? Yes — USE_MOCK_DATA=true by default, every integration falls back to realistic mock data; monitoring/incidents always mock, log search always the mock corpus by design.</a:t>
            </a:r>
          </a:p>
          <a:p/>
          <a:p>
            <a:r>
              <a:t>NOT PRODUCTION-READY YET (be upfront if asked): in-memory rate limiter (single-process only), monitoring/incidents mock-only, no multi-tenant scoping, no migration tooling (create_all, no Alembic).</a:t>
            </a:r>
          </a:p>
          <a:p/>
          <a:p>
            <a:r>
              <a:t>DEMO FALLBACK: if live demo breaks, slide 4's screenshot is real (not a mockup), and slide 8 narrates the traced 'why did the checkout deploy fail?' example step by step without needing the live app.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questions. Likely ones to be ready for: why a single orchestrator instead of multiple specialized agents (simpler failure modes, one place to reason about tool choice); how credentials/security are handled (env-var driven, mock-by-default, no secrets in the repo); what happens if NVIDIA NIM is down (bounded timeout + retry, automatic fallback model, then a clean 502/503/504 instead of a hang).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422"/>
        </a:solidFill>
        <a:effectLst/>
      </p:bgPr>
    </p:bg>
    <p:spTree>
      <p:nvGrpSpPr>
        <p:cNvPr id="1" name=""/>
        <p:cNvGrpSpPr/>
        <p:nvPr/>
      </p:nvGrpSpPr>
      <p:grpSpPr/>
      <p:sp>
        <p:nvSpPr>
          <p:cNvPr id="2" name="TextBox 1"/>
          <p:cNvSpPr txBox="1"/>
          <p:nvPr/>
        </p:nvSpPr>
        <p:spPr>
          <a:xfrm>
            <a:off x="822960" y="2103120"/>
            <a:ext cx="10515600" cy="457200"/>
          </a:xfrm>
          <a:prstGeom prst="rect">
            <a:avLst/>
          </a:prstGeom>
          <a:noFill/>
        </p:spPr>
        <p:txBody>
          <a:bodyPr wrap="square">
            <a:spAutoFit/>
          </a:bodyPr>
          <a:lstStyle/>
          <a:p>
            <a:pPr algn="l"/>
            <a:r>
              <a:rPr sz="1600" b="1" i="0">
                <a:solidFill>
                  <a:srgbClr val="39C0C5"/>
                </a:solidFill>
                <a:latin typeface="Segoe UI"/>
              </a:rPr>
              <a:t>BUILDATHON DEMO</a:t>
            </a:r>
          </a:p>
        </p:txBody>
      </p:sp>
      <p:sp>
        <p:nvSpPr>
          <p:cNvPr id="3" name="TextBox 2"/>
          <p:cNvSpPr txBox="1"/>
          <p:nvPr/>
        </p:nvSpPr>
        <p:spPr>
          <a:xfrm>
            <a:off x="822960" y="2514600"/>
            <a:ext cx="10515600" cy="1463040"/>
          </a:xfrm>
          <a:prstGeom prst="rect">
            <a:avLst/>
          </a:prstGeom>
          <a:noFill/>
        </p:spPr>
        <p:txBody>
          <a:bodyPr wrap="square">
            <a:spAutoFit/>
          </a:bodyPr>
          <a:lstStyle/>
          <a:p>
            <a:pPr algn="l"/>
            <a:r>
              <a:rPr sz="4400" b="1" i="0">
                <a:solidFill>
                  <a:srgbClr val="F4F7FB"/>
                </a:solidFill>
                <a:latin typeface="Segoe UI"/>
              </a:rPr>
              <a:t>AI Engineering Command Center</a:t>
            </a:r>
          </a:p>
        </p:txBody>
      </p:sp>
      <p:sp>
        <p:nvSpPr>
          <p:cNvPr id="4" name="TextBox 3"/>
          <p:cNvSpPr txBox="1"/>
          <p:nvPr/>
        </p:nvSpPr>
        <p:spPr>
          <a:xfrm>
            <a:off x="822960" y="3520440"/>
            <a:ext cx="10058400" cy="822960"/>
          </a:xfrm>
          <a:prstGeom prst="rect">
            <a:avLst/>
          </a:prstGeom>
          <a:noFill/>
        </p:spPr>
        <p:txBody>
          <a:bodyPr wrap="square">
            <a:spAutoFit/>
          </a:bodyPr>
          <a:lstStyle/>
          <a:p>
            <a:pPr algn="l"/>
            <a:r>
              <a:rPr sz="1800" b="0" i="0">
                <a:solidFill>
                  <a:srgbClr val="A9B6C7"/>
                </a:solidFill>
                <a:latin typeface="Segoe UI"/>
              </a:rPr>
              <a:t>One conversational interface for engineering operations — sprint, code, CI/CD, uptime, incidents, and logs, correlated by an agent.</a:t>
            </a:r>
          </a:p>
        </p:txBody>
      </p:sp>
      <p:sp>
        <p:nvSpPr>
          <p:cNvPr id="5" name="Rectangle 4"/>
          <p:cNvSpPr/>
          <p:nvPr/>
        </p:nvSpPr>
        <p:spPr>
          <a:xfrm>
            <a:off x="841248" y="2450592"/>
            <a:ext cx="2011680" cy="50800"/>
          </a:xfrm>
          <a:prstGeom prst="rect">
            <a:avLst/>
          </a:prstGeom>
          <a:solidFill>
            <a:srgbClr val="39C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126480"/>
            <a:ext cx="7315200" cy="365760"/>
          </a:xfrm>
          <a:prstGeom prst="rect">
            <a:avLst/>
          </a:prstGeom>
          <a:noFill/>
        </p:spPr>
        <p:txBody>
          <a:bodyPr wrap="square">
            <a:spAutoFit/>
          </a:bodyPr>
          <a:lstStyle/>
          <a:p>
            <a:pPr algn="l"/>
            <a:r>
              <a:rPr sz="1300" b="0" i="0">
                <a:solidFill>
                  <a:srgbClr val="A9B6C7"/>
                </a:solidFill>
                <a:latin typeface="Segoe UI"/>
              </a:rPr>
              <a:t>Presented by Mahesh Ramineedi, Technical Lead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422"/>
        </a:solidFill>
        <a:effectLst/>
      </p:bgPr>
    </p:bg>
    <p:spTree>
      <p:nvGrpSpPr>
        <p:cNvPr id="1" name=""/>
        <p:cNvGrpSpPr/>
        <p:nvPr/>
      </p:nvGrpSpPr>
      <p:grpSpPr/>
      <p:sp>
        <p:nvSpPr>
          <p:cNvPr id="2" name="TextBox 1"/>
          <p:cNvSpPr txBox="1"/>
          <p:nvPr/>
        </p:nvSpPr>
        <p:spPr>
          <a:xfrm>
            <a:off x="640080" y="365760"/>
            <a:ext cx="7315200" cy="365760"/>
          </a:xfrm>
          <a:prstGeom prst="rect">
            <a:avLst/>
          </a:prstGeom>
          <a:noFill/>
        </p:spPr>
        <p:txBody>
          <a:bodyPr wrap="square">
            <a:spAutoFit/>
          </a:bodyPr>
          <a:lstStyle/>
          <a:p>
            <a:pPr algn="l"/>
            <a:r>
              <a:rPr sz="1400" b="1" i="0">
                <a:solidFill>
                  <a:srgbClr val="39C0C5"/>
                </a:solidFill>
                <a:latin typeface="Segoe UI"/>
              </a:rPr>
              <a:t>THE PROBLEM</a:t>
            </a:r>
          </a:p>
        </p:txBody>
      </p:sp>
      <p:sp>
        <p:nvSpPr>
          <p:cNvPr id="3" name="TextBox 2"/>
          <p:cNvSpPr txBox="1"/>
          <p:nvPr/>
        </p:nvSpPr>
        <p:spPr>
          <a:xfrm>
            <a:off x="640080" y="685800"/>
            <a:ext cx="10972800" cy="822960"/>
          </a:xfrm>
          <a:prstGeom prst="rect">
            <a:avLst/>
          </a:prstGeom>
          <a:noFill/>
        </p:spPr>
        <p:txBody>
          <a:bodyPr wrap="square">
            <a:spAutoFit/>
          </a:bodyPr>
          <a:lstStyle/>
          <a:p>
            <a:pPr algn="l"/>
            <a:r>
              <a:rPr sz="3200" b="1" i="0">
                <a:solidFill>
                  <a:srgbClr val="F4F7FB"/>
                </a:solidFill>
                <a:latin typeface="Segoe UI"/>
              </a:rPr>
              <a:t>Engineering signal is scattered across six tools</a:t>
            </a:r>
          </a:p>
        </p:txBody>
      </p:sp>
      <p:sp>
        <p:nvSpPr>
          <p:cNvPr id="4" name="Rectangle 3"/>
          <p:cNvSpPr/>
          <p:nvPr/>
        </p:nvSpPr>
        <p:spPr>
          <a:xfrm>
            <a:off x="658368" y="1463040"/>
            <a:ext cx="1005840" cy="50800"/>
          </a:xfrm>
          <a:prstGeom prst="rect">
            <a:avLst/>
          </a:prstGeom>
          <a:solidFill>
            <a:srgbClr val="39C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20240"/>
            <a:ext cx="6949440" cy="4114800"/>
          </a:xfrm>
          <a:prstGeom prst="rect">
            <a:avLst/>
          </a:prstGeom>
          <a:noFill/>
        </p:spPr>
        <p:txBody>
          <a:bodyPr wrap="square">
            <a:spAutoFit/>
          </a:bodyPr>
          <a:lstStyle/>
          <a:p>
            <a:pPr>
              <a:lnSpc>
                <a:spcPct val="115000"/>
              </a:lnSpc>
              <a:spcAft>
                <a:spcPts val="1400"/>
              </a:spcAft>
            </a:pPr>
            <a:r>
              <a:rPr sz="1900" b="1">
                <a:solidFill>
                  <a:srgbClr val="39C0C5"/>
                </a:solidFill>
                <a:latin typeface="Segoe UI"/>
              </a:rPr>
              <a:t>Jira  </a:t>
            </a:r>
            <a:r>
              <a:rPr sz="1900">
                <a:solidFill>
                  <a:srgbClr val="F4F7FB"/>
                </a:solidFill>
                <a:latin typeface="Segoe UI"/>
              </a:rPr>
              <a:t>sprint progress and blocked issues</a:t>
            </a:r>
          </a:p>
          <a:p>
            <a:pPr>
              <a:lnSpc>
                <a:spcPct val="115000"/>
              </a:lnSpc>
              <a:spcAft>
                <a:spcPts val="1400"/>
              </a:spcAft>
            </a:pPr>
            <a:r>
              <a:rPr sz="1900" b="1">
                <a:solidFill>
                  <a:srgbClr val="39C0C5"/>
                </a:solidFill>
                <a:latin typeface="Segoe UI"/>
              </a:rPr>
              <a:t>GitHub  </a:t>
            </a:r>
            <a:r>
              <a:rPr sz="1900">
                <a:solidFill>
                  <a:srgbClr val="F4F7FB"/>
                </a:solidFill>
                <a:latin typeface="Segoe UI"/>
              </a:rPr>
              <a:t>commits, PRs, review status</a:t>
            </a:r>
          </a:p>
          <a:p>
            <a:pPr>
              <a:lnSpc>
                <a:spcPct val="115000"/>
              </a:lnSpc>
              <a:spcAft>
                <a:spcPts val="1400"/>
              </a:spcAft>
            </a:pPr>
            <a:r>
              <a:rPr sz="1900" b="1">
                <a:solidFill>
                  <a:srgbClr val="39C0C5"/>
                </a:solidFill>
                <a:latin typeface="Segoe UI"/>
              </a:rPr>
              <a:t>CI/CD  </a:t>
            </a:r>
            <a:r>
              <a:rPr sz="1900">
                <a:solidFill>
                  <a:srgbClr val="F4F7FB"/>
                </a:solidFill>
                <a:latin typeface="Segoe UI"/>
              </a:rPr>
              <a:t>build and deploy health</a:t>
            </a:r>
          </a:p>
          <a:p>
            <a:pPr>
              <a:lnSpc>
                <a:spcPct val="115000"/>
              </a:lnSpc>
              <a:spcAft>
                <a:spcPts val="1400"/>
              </a:spcAft>
            </a:pPr>
            <a:r>
              <a:rPr sz="1900" b="1">
                <a:solidFill>
                  <a:srgbClr val="39C0C5"/>
                </a:solidFill>
                <a:latin typeface="Segoe UI"/>
              </a:rPr>
              <a:t>Monitoring  </a:t>
            </a:r>
            <a:r>
              <a:rPr sz="1900">
                <a:solidFill>
                  <a:srgbClr val="F4F7FB"/>
                </a:solidFill>
                <a:latin typeface="Segoe UI"/>
              </a:rPr>
              <a:t>uptime and active incidents</a:t>
            </a:r>
          </a:p>
          <a:p>
            <a:pPr>
              <a:lnSpc>
                <a:spcPct val="115000"/>
              </a:lnSpc>
              <a:spcAft>
                <a:spcPts val="1400"/>
              </a:spcAft>
            </a:pPr>
            <a:r>
              <a:rPr sz="1900" b="1">
                <a:solidFill>
                  <a:srgbClr val="39C0C5"/>
                </a:solidFill>
                <a:latin typeface="Segoe UI"/>
              </a:rPr>
              <a:t>Logs  </a:t>
            </a:r>
            <a:r>
              <a:rPr sz="1900">
                <a:solidFill>
                  <a:srgbClr val="F4F7FB"/>
                </a:solidFill>
                <a:latin typeface="Segoe UI"/>
              </a:rPr>
              <a:t>the error that actually explains what broke</a:t>
            </a:r>
          </a:p>
        </p:txBody>
      </p:sp>
      <p:sp>
        <p:nvSpPr>
          <p:cNvPr id="6" name="TextBox 5"/>
          <p:cNvSpPr txBox="1"/>
          <p:nvPr/>
        </p:nvSpPr>
        <p:spPr>
          <a:xfrm>
            <a:off x="640080" y="5623560"/>
            <a:ext cx="10515600" cy="914400"/>
          </a:xfrm>
          <a:prstGeom prst="rect">
            <a:avLst/>
          </a:prstGeom>
          <a:noFill/>
        </p:spPr>
        <p:txBody>
          <a:bodyPr wrap="square">
            <a:spAutoFit/>
          </a:bodyPr>
          <a:lstStyle/>
          <a:p>
            <a:pPr algn="l"/>
            <a:r>
              <a:rPr sz="1700" b="0" i="1">
                <a:solidFill>
                  <a:srgbClr val="F2A53D"/>
                </a:solidFill>
                <a:latin typeface="Segoe UI"/>
              </a:rPr>
              <a:t>Answering “is this release healthy?” means opening 5+ tools and manually connecting the dots — every time.</a:t>
            </a:r>
          </a:p>
        </p:txBody>
      </p:sp>
      <p:sp>
        <p:nvSpPr>
          <p:cNvPr id="7" name="Rounded Rectangle 6"/>
          <p:cNvSpPr/>
          <p:nvPr/>
        </p:nvSpPr>
        <p:spPr>
          <a:xfrm>
            <a:off x="8503920" y="2103120"/>
            <a:ext cx="2834640" cy="640080"/>
          </a:xfrm>
          <a:prstGeom prst="roundRect">
            <a:avLst/>
          </a:prstGeom>
          <a:solidFill>
            <a:srgbClr val="131F33"/>
          </a:solidFill>
          <a:ln w="15875">
            <a:solidFill>
              <a:srgbClr val="3A4455"/>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500" b="1">
                <a:solidFill>
                  <a:srgbClr val="F4F7FB"/>
                </a:solidFill>
                <a:latin typeface="Segoe UI"/>
              </a:rPr>
              <a:t>Jira</a:t>
            </a:r>
          </a:p>
        </p:txBody>
      </p:sp>
      <p:sp>
        <p:nvSpPr>
          <p:cNvPr id="8" name="Rounded Rectangle 7"/>
          <p:cNvSpPr/>
          <p:nvPr/>
        </p:nvSpPr>
        <p:spPr>
          <a:xfrm>
            <a:off x="8503920" y="2971800"/>
            <a:ext cx="2834640" cy="640080"/>
          </a:xfrm>
          <a:prstGeom prst="roundRect">
            <a:avLst/>
          </a:prstGeom>
          <a:solidFill>
            <a:srgbClr val="131F33"/>
          </a:solidFill>
          <a:ln w="15875">
            <a:solidFill>
              <a:srgbClr val="3A4455"/>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500" b="1">
                <a:solidFill>
                  <a:srgbClr val="F4F7FB"/>
                </a:solidFill>
                <a:latin typeface="Segoe UI"/>
              </a:rPr>
              <a:t>GitHub</a:t>
            </a:r>
          </a:p>
        </p:txBody>
      </p:sp>
      <p:sp>
        <p:nvSpPr>
          <p:cNvPr id="9" name="Rounded Rectangle 8"/>
          <p:cNvSpPr/>
          <p:nvPr/>
        </p:nvSpPr>
        <p:spPr>
          <a:xfrm>
            <a:off x="8503920" y="3840480"/>
            <a:ext cx="2834640" cy="640080"/>
          </a:xfrm>
          <a:prstGeom prst="roundRect">
            <a:avLst/>
          </a:prstGeom>
          <a:solidFill>
            <a:srgbClr val="131F33"/>
          </a:solidFill>
          <a:ln w="15875">
            <a:solidFill>
              <a:srgbClr val="3A4455"/>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500" b="1">
                <a:solidFill>
                  <a:srgbClr val="F4F7FB"/>
                </a:solidFill>
                <a:latin typeface="Segoe UI"/>
              </a:rPr>
              <a:t>CI/CD</a:t>
            </a:r>
          </a:p>
        </p:txBody>
      </p:sp>
      <p:sp>
        <p:nvSpPr>
          <p:cNvPr id="10" name="Rounded Rectangle 9"/>
          <p:cNvSpPr/>
          <p:nvPr/>
        </p:nvSpPr>
        <p:spPr>
          <a:xfrm>
            <a:off x="8503920" y="4709160"/>
            <a:ext cx="2834640" cy="640080"/>
          </a:xfrm>
          <a:prstGeom prst="roundRect">
            <a:avLst/>
          </a:prstGeom>
          <a:solidFill>
            <a:srgbClr val="131F33"/>
          </a:solidFill>
          <a:ln w="15875">
            <a:solidFill>
              <a:srgbClr val="3A4455"/>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500" b="1">
                <a:solidFill>
                  <a:srgbClr val="F4F7FB"/>
                </a:solidFill>
                <a:latin typeface="Segoe UI"/>
              </a:rPr>
              <a:t>Monitoring</a:t>
            </a:r>
          </a:p>
        </p:txBody>
      </p:sp>
      <p:sp>
        <p:nvSpPr>
          <p:cNvPr id="11" name="Rounded Rectangle 10"/>
          <p:cNvSpPr/>
          <p:nvPr/>
        </p:nvSpPr>
        <p:spPr>
          <a:xfrm>
            <a:off x="8503920" y="5577840"/>
            <a:ext cx="2834640" cy="640080"/>
          </a:xfrm>
          <a:prstGeom prst="roundRect">
            <a:avLst/>
          </a:prstGeom>
          <a:solidFill>
            <a:srgbClr val="131F33"/>
          </a:solidFill>
          <a:ln w="15875">
            <a:solidFill>
              <a:srgbClr val="3A4455"/>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500" b="1">
                <a:solidFill>
                  <a:srgbClr val="F4F7FB"/>
                </a:solidFill>
                <a:latin typeface="Segoe UI"/>
              </a:rPr>
              <a:t>Logs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422"/>
        </a:solidFill>
        <a:effectLst/>
      </p:bgPr>
    </p:bg>
    <p:spTree>
      <p:nvGrpSpPr>
        <p:cNvPr id="1" name=""/>
        <p:cNvGrpSpPr/>
        <p:nvPr/>
      </p:nvGrpSpPr>
      <p:grpSpPr/>
      <p:sp>
        <p:nvSpPr>
          <p:cNvPr id="2" name="TextBox 1"/>
          <p:cNvSpPr txBox="1"/>
          <p:nvPr/>
        </p:nvSpPr>
        <p:spPr>
          <a:xfrm>
            <a:off x="640080" y="365760"/>
            <a:ext cx="7315200" cy="365760"/>
          </a:xfrm>
          <a:prstGeom prst="rect">
            <a:avLst/>
          </a:prstGeom>
          <a:noFill/>
        </p:spPr>
        <p:txBody>
          <a:bodyPr wrap="square">
            <a:spAutoFit/>
          </a:bodyPr>
          <a:lstStyle/>
          <a:p>
            <a:pPr algn="l"/>
            <a:r>
              <a:rPr sz="1400" b="1" i="0">
                <a:solidFill>
                  <a:srgbClr val="39C0C5"/>
                </a:solidFill>
                <a:latin typeface="Segoe UI"/>
              </a:rPr>
              <a:t>THE SOLUTION</a:t>
            </a:r>
          </a:p>
        </p:txBody>
      </p:sp>
      <p:sp>
        <p:nvSpPr>
          <p:cNvPr id="3" name="TextBox 2"/>
          <p:cNvSpPr txBox="1"/>
          <p:nvPr/>
        </p:nvSpPr>
        <p:spPr>
          <a:xfrm>
            <a:off x="640080" y="685800"/>
            <a:ext cx="10972800" cy="822960"/>
          </a:xfrm>
          <a:prstGeom prst="rect">
            <a:avLst/>
          </a:prstGeom>
          <a:noFill/>
        </p:spPr>
        <p:txBody>
          <a:bodyPr wrap="square">
            <a:spAutoFit/>
          </a:bodyPr>
          <a:lstStyle/>
          <a:p>
            <a:pPr algn="l"/>
            <a:r>
              <a:rPr sz="3200" b="1" i="0">
                <a:solidFill>
                  <a:srgbClr val="F4F7FB"/>
                </a:solidFill>
                <a:latin typeface="Segoe UI"/>
              </a:rPr>
              <a:t>One orchestrator agent, six tools, one conversation</a:t>
            </a:r>
          </a:p>
        </p:txBody>
      </p:sp>
      <p:sp>
        <p:nvSpPr>
          <p:cNvPr id="4" name="Rectangle 3"/>
          <p:cNvSpPr/>
          <p:nvPr/>
        </p:nvSpPr>
        <p:spPr>
          <a:xfrm>
            <a:off x="658368" y="1463040"/>
            <a:ext cx="1005840" cy="50800"/>
          </a:xfrm>
          <a:prstGeom prst="rect">
            <a:avLst/>
          </a:prstGeom>
          <a:solidFill>
            <a:srgbClr val="39C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65960"/>
            <a:ext cx="10698480" cy="3291840"/>
          </a:xfrm>
          <a:prstGeom prst="rect">
            <a:avLst/>
          </a:prstGeom>
          <a:noFill/>
        </p:spPr>
        <p:txBody>
          <a:bodyPr wrap="square">
            <a:spAutoFit/>
          </a:bodyPr>
          <a:lstStyle/>
          <a:p>
            <a:pPr>
              <a:lnSpc>
                <a:spcPct val="115000"/>
              </a:lnSpc>
              <a:spcAft>
                <a:spcPts val="1800"/>
              </a:spcAft>
            </a:pPr>
            <a:r>
              <a:rPr sz="1900" b="1">
                <a:solidFill>
                  <a:srgbClr val="39C0C5"/>
                </a:solidFill>
                <a:latin typeface="Segoe UI"/>
              </a:rPr>
              <a:t>Investigates  </a:t>
            </a:r>
            <a:r>
              <a:rPr sz="1900">
                <a:solidFill>
                  <a:srgbClr val="F4F7FB"/>
                </a:solidFill>
                <a:latin typeface="Segoe UI"/>
              </a:rPr>
              <a:t>a single tool-use loop (NVIDIA NIM) calls tools across Jira, GitHub, CI/CD, monitoring, incidents, and a log-search RAG pipeline</a:t>
            </a:r>
          </a:p>
          <a:p>
            <a:pPr>
              <a:lnSpc>
                <a:spcPct val="115000"/>
              </a:lnSpc>
              <a:spcAft>
                <a:spcPts val="1800"/>
              </a:spcAft>
            </a:pPr>
            <a:r>
              <a:rPr sz="1900" b="1">
                <a:solidFill>
                  <a:srgbClr val="39C0C5"/>
                </a:solidFill>
                <a:latin typeface="Segoe UI"/>
              </a:rPr>
              <a:t>Correlates  </a:t>
            </a:r>
            <a:r>
              <a:rPr sz="1900">
                <a:solidFill>
                  <a:srgbClr val="F4F7FB"/>
                </a:solidFill>
                <a:latin typeface="Segoe UI"/>
              </a:rPr>
              <a:t>connects findings across systems — e.g. a failed build + an open incident + a blocked sprint issue becomes one risk story, not three alerts</a:t>
            </a:r>
          </a:p>
          <a:p>
            <a:pPr>
              <a:lnSpc>
                <a:spcPct val="115000"/>
              </a:lnSpc>
              <a:spcAft>
                <a:spcPts val="1800"/>
              </a:spcAft>
            </a:pPr>
            <a:r>
              <a:rPr sz="1900" b="1">
                <a:solidFill>
                  <a:srgbClr val="39C0C5"/>
                </a:solidFill>
                <a:latin typeface="Segoe UI"/>
              </a:rPr>
              <a:t>Reports  </a:t>
            </a:r>
            <a:r>
              <a:rPr sz="1900">
                <a:solidFill>
                  <a:srgbClr val="F4F7FB"/>
                </a:solidFill>
                <a:latin typeface="Segoe UI"/>
              </a:rPr>
              <a:t>returns an executive-ready summary with recommended actions: reprioritize, add resourcing, escalate</a:t>
            </a:r>
          </a:p>
        </p:txBody>
      </p:sp>
      <p:sp>
        <p:nvSpPr>
          <p:cNvPr id="6" name="TextBox 5"/>
          <p:cNvSpPr txBox="1"/>
          <p:nvPr/>
        </p:nvSpPr>
        <p:spPr>
          <a:xfrm>
            <a:off x="640080" y="5669280"/>
            <a:ext cx="10698480" cy="731520"/>
          </a:xfrm>
          <a:prstGeom prst="rect">
            <a:avLst/>
          </a:prstGeom>
          <a:noFill/>
        </p:spPr>
        <p:txBody>
          <a:bodyPr wrap="square">
            <a:spAutoFit/>
          </a:bodyPr>
          <a:lstStyle/>
          <a:p>
            <a:pPr algn="l"/>
            <a:r>
              <a:rPr sz="1600" b="0" i="1">
                <a:solidFill>
                  <a:srgbClr val="39C0C5"/>
                </a:solidFill>
                <a:latin typeface="Segoe UI"/>
              </a:rPr>
              <a:t>Ask it in plain language. It decides which signals matter and pulls them itself.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422"/>
        </a:solidFill>
        <a:effectLst/>
      </p:bgPr>
    </p:bg>
    <p:spTree>
      <p:nvGrpSpPr>
        <p:cNvPr id="1" name=""/>
        <p:cNvGrpSpPr/>
        <p:nvPr/>
      </p:nvGrpSpPr>
      <p:grpSpPr/>
      <p:sp>
        <p:nvSpPr>
          <p:cNvPr id="2" name="TextBox 1"/>
          <p:cNvSpPr txBox="1"/>
          <p:nvPr/>
        </p:nvSpPr>
        <p:spPr>
          <a:xfrm>
            <a:off x="640080" y="365760"/>
            <a:ext cx="7315200" cy="365760"/>
          </a:xfrm>
          <a:prstGeom prst="rect">
            <a:avLst/>
          </a:prstGeom>
          <a:noFill/>
        </p:spPr>
        <p:txBody>
          <a:bodyPr wrap="square">
            <a:spAutoFit/>
          </a:bodyPr>
          <a:lstStyle/>
          <a:p>
            <a:pPr algn="l"/>
            <a:r>
              <a:rPr sz="1400" b="1" i="0">
                <a:solidFill>
                  <a:srgbClr val="39C0C5"/>
                </a:solidFill>
                <a:latin typeface="Segoe UI"/>
              </a:rPr>
              <a:t>THE PRODUCT</a:t>
            </a:r>
          </a:p>
        </p:txBody>
      </p:sp>
      <p:sp>
        <p:nvSpPr>
          <p:cNvPr id="3" name="TextBox 2"/>
          <p:cNvSpPr txBox="1"/>
          <p:nvPr/>
        </p:nvSpPr>
        <p:spPr>
          <a:xfrm>
            <a:off x="640080" y="685800"/>
            <a:ext cx="10972800" cy="822960"/>
          </a:xfrm>
          <a:prstGeom prst="rect">
            <a:avLst/>
          </a:prstGeom>
          <a:noFill/>
        </p:spPr>
        <p:txBody>
          <a:bodyPr wrap="square">
            <a:spAutoFit/>
          </a:bodyPr>
          <a:lstStyle/>
          <a:p>
            <a:pPr algn="l"/>
            <a:r>
              <a:rPr sz="3000" b="1" i="0">
                <a:solidFill>
                  <a:srgbClr val="F4F7FB"/>
                </a:solidFill>
                <a:latin typeface="Segoe UI"/>
              </a:rPr>
              <a:t>What it looks like in practice</a:t>
            </a:r>
          </a:p>
        </p:txBody>
      </p:sp>
      <p:sp>
        <p:nvSpPr>
          <p:cNvPr id="4" name="Rectangle 3"/>
          <p:cNvSpPr/>
          <p:nvPr/>
        </p:nvSpPr>
        <p:spPr>
          <a:xfrm>
            <a:off x="658368" y="1463040"/>
            <a:ext cx="1005840" cy="50800"/>
          </a:xfrm>
          <a:prstGeom prst="rect">
            <a:avLst/>
          </a:prstGeom>
          <a:solidFill>
            <a:srgbClr val="39C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067408" y="1549400"/>
            <a:ext cx="8056879" cy="5073649"/>
          </a:xfrm>
          <a:prstGeom prst="rect">
            <a:avLst/>
          </a:prstGeom>
          <a:solidFill>
            <a:srgbClr val="131F33"/>
          </a:solidFill>
          <a:ln w="15875">
            <a:solidFill>
              <a:srgbClr val="1F6E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pp_chat_ui.png"/>
          <p:cNvPicPr>
            <a:picLocks noChangeAspect="1"/>
          </p:cNvPicPr>
          <p:nvPr/>
        </p:nvPicPr>
        <p:blipFill>
          <a:blip r:embed="rId2"/>
          <a:stretch>
            <a:fillRect/>
          </a:stretch>
        </p:blipFill>
        <p:spPr>
          <a:xfrm>
            <a:off x="2118208" y="1600200"/>
            <a:ext cx="7955279" cy="4972049"/>
          </a:xfrm>
          <a:prstGeom prst="rect">
            <a:avLst/>
          </a:prstGeom>
        </p:spPr>
      </p:pic>
      <p:sp>
        <p:nvSpPr>
          <p:cNvPr id="7" name="TextBox 6"/>
          <p:cNvSpPr txBox="1"/>
          <p:nvPr/>
        </p:nvSpPr>
        <p:spPr>
          <a:xfrm>
            <a:off x="640080" y="6800849"/>
            <a:ext cx="10881360" cy="457200"/>
          </a:xfrm>
          <a:prstGeom prst="rect">
            <a:avLst/>
          </a:prstGeom>
          <a:noFill/>
        </p:spPr>
        <p:txBody>
          <a:bodyPr wrap="square">
            <a:spAutoFit/>
          </a:bodyPr>
          <a:lstStyle/>
          <a:p>
            <a:pPr algn="ctr"/>
            <a:r>
              <a:rPr sz="1300" b="0" i="1">
                <a:solidFill>
                  <a:srgbClr val="A9B6C7"/>
                </a:solidFill>
                <a:latin typeface="Segoe UI"/>
              </a:rPr>
              <a:t>A real question, answered by correlating Jira, GitHub, CI/CD, monitoring, and incidents — with the Sources panel showing which are live vs. mock.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422"/>
        </a:solidFill>
        <a:effectLst/>
      </p:bgPr>
    </p:bg>
    <p:spTree>
      <p:nvGrpSpPr>
        <p:cNvPr id="1" name=""/>
        <p:cNvGrpSpPr/>
        <p:nvPr/>
      </p:nvGrpSpPr>
      <p:grpSpPr/>
      <p:sp>
        <p:nvSpPr>
          <p:cNvPr id="2" name="TextBox 1"/>
          <p:cNvSpPr txBox="1"/>
          <p:nvPr/>
        </p:nvSpPr>
        <p:spPr>
          <a:xfrm>
            <a:off x="640080" y="365760"/>
            <a:ext cx="7315200" cy="365760"/>
          </a:xfrm>
          <a:prstGeom prst="rect">
            <a:avLst/>
          </a:prstGeom>
          <a:noFill/>
        </p:spPr>
        <p:txBody>
          <a:bodyPr wrap="square">
            <a:spAutoFit/>
          </a:bodyPr>
          <a:lstStyle/>
          <a:p>
            <a:pPr algn="l"/>
            <a:r>
              <a:rPr sz="1400" b="1" i="0">
                <a:solidFill>
                  <a:srgbClr val="39C0C5"/>
                </a:solidFill>
                <a:latin typeface="Segoe UI"/>
              </a:rPr>
              <a:t>HOW IT WORKS</a:t>
            </a:r>
          </a:p>
        </p:txBody>
      </p:sp>
      <p:sp>
        <p:nvSpPr>
          <p:cNvPr id="3" name="TextBox 2"/>
          <p:cNvSpPr txBox="1"/>
          <p:nvPr/>
        </p:nvSpPr>
        <p:spPr>
          <a:xfrm>
            <a:off x="640080" y="685800"/>
            <a:ext cx="10972800" cy="822960"/>
          </a:xfrm>
          <a:prstGeom prst="rect">
            <a:avLst/>
          </a:prstGeom>
          <a:noFill/>
        </p:spPr>
        <p:txBody>
          <a:bodyPr wrap="square">
            <a:spAutoFit/>
          </a:bodyPr>
          <a:lstStyle/>
          <a:p>
            <a:pPr algn="l"/>
            <a:r>
              <a:rPr sz="3000" b="1" i="0">
                <a:solidFill>
                  <a:srgbClr val="F4F7FB"/>
                </a:solidFill>
                <a:latin typeface="Segoe UI"/>
              </a:rPr>
              <a:t>Architecture</a:t>
            </a:r>
          </a:p>
        </p:txBody>
      </p:sp>
      <p:sp>
        <p:nvSpPr>
          <p:cNvPr id="4" name="Rectangle 3"/>
          <p:cNvSpPr/>
          <p:nvPr/>
        </p:nvSpPr>
        <p:spPr>
          <a:xfrm>
            <a:off x="658368" y="1463040"/>
            <a:ext cx="1005840" cy="50800"/>
          </a:xfrm>
          <a:prstGeom prst="rect">
            <a:avLst/>
          </a:prstGeom>
          <a:solidFill>
            <a:srgbClr val="39C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83080"/>
            <a:ext cx="3657600" cy="274320"/>
          </a:xfrm>
          <a:prstGeom prst="rect">
            <a:avLst/>
          </a:prstGeom>
          <a:noFill/>
        </p:spPr>
        <p:txBody>
          <a:bodyPr wrap="square">
            <a:spAutoFit/>
          </a:bodyPr>
          <a:lstStyle/>
          <a:p>
            <a:pPr algn="l"/>
            <a:r>
              <a:rPr sz="1100" b="1" i="0">
                <a:solidFill>
                  <a:srgbClr val="39C0C5"/>
                </a:solidFill>
                <a:latin typeface="Segoe UI"/>
              </a:rPr>
              <a:t>FRONTEND</a:t>
            </a:r>
          </a:p>
        </p:txBody>
      </p:sp>
      <p:sp>
        <p:nvSpPr>
          <p:cNvPr id="6" name="Rounded Rectangle 5"/>
          <p:cNvSpPr/>
          <p:nvPr/>
        </p:nvSpPr>
        <p:spPr>
          <a:xfrm>
            <a:off x="548640" y="2057400"/>
            <a:ext cx="2103120" cy="777240"/>
          </a:xfrm>
          <a:prstGeom prst="roundRect">
            <a:avLst/>
          </a:prstGeom>
          <a:solidFill>
            <a:srgbClr val="131F33"/>
          </a:solidFill>
          <a:ln w="15875">
            <a:solidFill>
              <a:srgbClr val="1F6E73"/>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300" b="1">
                <a:solidFill>
                  <a:srgbClr val="F4F7FB"/>
                </a:solidFill>
                <a:latin typeface="Segoe UI"/>
              </a:rPr>
              <a:t>React Chat UI</a:t>
            </a:r>
          </a:p>
          <a:p>
            <a:pPr algn="ctr"/>
            <a:r>
              <a:rPr sz="1050">
                <a:solidFill>
                  <a:srgbClr val="A9B6C7"/>
                </a:solidFill>
                <a:latin typeface="Segoe UI"/>
              </a:rPr>
              <a:t>ChatWindow + StatusBar</a:t>
            </a:r>
          </a:p>
        </p:txBody>
      </p:sp>
      <p:sp>
        <p:nvSpPr>
          <p:cNvPr id="7" name="TextBox 6"/>
          <p:cNvSpPr txBox="1"/>
          <p:nvPr/>
        </p:nvSpPr>
        <p:spPr>
          <a:xfrm>
            <a:off x="3108960" y="1783080"/>
            <a:ext cx="3657600" cy="274320"/>
          </a:xfrm>
          <a:prstGeom prst="rect">
            <a:avLst/>
          </a:prstGeom>
          <a:noFill/>
        </p:spPr>
        <p:txBody>
          <a:bodyPr wrap="square">
            <a:spAutoFit/>
          </a:bodyPr>
          <a:lstStyle/>
          <a:p>
            <a:pPr algn="l"/>
            <a:r>
              <a:rPr sz="1100" b="1" i="0">
                <a:solidFill>
                  <a:srgbClr val="39C0C5"/>
                </a:solidFill>
                <a:latin typeface="Segoe UI"/>
              </a:rPr>
              <a:t>BACKEND (FASTAPI)</a:t>
            </a:r>
          </a:p>
        </p:txBody>
      </p:sp>
      <p:sp>
        <p:nvSpPr>
          <p:cNvPr id="8" name="Rounded Rectangle 7"/>
          <p:cNvSpPr/>
          <p:nvPr/>
        </p:nvSpPr>
        <p:spPr>
          <a:xfrm>
            <a:off x="3108960" y="2057400"/>
            <a:ext cx="2286000" cy="640080"/>
          </a:xfrm>
          <a:prstGeom prst="roundRect">
            <a:avLst/>
          </a:prstGeom>
          <a:solidFill>
            <a:srgbClr val="131F33"/>
          </a:solidFill>
          <a:ln w="15875">
            <a:solidFill>
              <a:srgbClr val="1F6E73"/>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250" b="1">
                <a:solidFill>
                  <a:srgbClr val="F4F7FB"/>
                </a:solidFill>
                <a:latin typeface="Segoe UI"/>
              </a:rPr>
              <a:t>POST /api/chat</a:t>
            </a:r>
          </a:p>
          <a:p>
            <a:pPr algn="ctr"/>
            <a:r>
              <a:rPr sz="1050">
                <a:solidFill>
                  <a:srgbClr val="A9B6C7"/>
                </a:solidFill>
                <a:latin typeface="Segoe UI"/>
              </a:rPr>
              <a:t>rate limit + validation</a:t>
            </a:r>
          </a:p>
        </p:txBody>
      </p:sp>
      <p:sp>
        <p:nvSpPr>
          <p:cNvPr id="9" name="Rounded Rectangle 8"/>
          <p:cNvSpPr/>
          <p:nvPr/>
        </p:nvSpPr>
        <p:spPr>
          <a:xfrm>
            <a:off x="3108960" y="2926080"/>
            <a:ext cx="2286000" cy="822960"/>
          </a:xfrm>
          <a:prstGeom prst="roundRect">
            <a:avLst/>
          </a:prstGeom>
          <a:solidFill>
            <a:srgbClr val="0F3538"/>
          </a:solidFill>
          <a:ln w="15875">
            <a:solidFill>
              <a:srgbClr val="39C0C5"/>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300" b="1">
                <a:solidFill>
                  <a:srgbClr val="F4F7FB"/>
                </a:solidFill>
                <a:latin typeface="Segoe UI"/>
              </a:rPr>
              <a:t>Orchestrator</a:t>
            </a:r>
          </a:p>
          <a:p>
            <a:pPr algn="ctr"/>
            <a:r>
              <a:rPr sz="1050">
                <a:solidFill>
                  <a:srgbClr val="A9B6C7"/>
                </a:solidFill>
                <a:latin typeface="Segoe UI"/>
              </a:rPr>
              <a:t>tool-use loop, max 8 iters</a:t>
            </a:r>
          </a:p>
        </p:txBody>
      </p:sp>
      <p:sp>
        <p:nvSpPr>
          <p:cNvPr id="10" name="TextBox 9"/>
          <p:cNvSpPr txBox="1"/>
          <p:nvPr/>
        </p:nvSpPr>
        <p:spPr>
          <a:xfrm>
            <a:off x="3108960" y="3703320"/>
            <a:ext cx="3657600" cy="274320"/>
          </a:xfrm>
          <a:prstGeom prst="rect">
            <a:avLst/>
          </a:prstGeom>
          <a:noFill/>
        </p:spPr>
        <p:txBody>
          <a:bodyPr wrap="square">
            <a:spAutoFit/>
          </a:bodyPr>
          <a:lstStyle/>
          <a:p>
            <a:pPr algn="l"/>
            <a:r>
              <a:rPr sz="1100" b="1" i="0">
                <a:solidFill>
                  <a:srgbClr val="39C0C5"/>
                </a:solidFill>
                <a:latin typeface="Segoe UI"/>
              </a:rPr>
              <a:t>6 TOOLS</a:t>
            </a:r>
          </a:p>
        </p:txBody>
      </p:sp>
      <p:sp>
        <p:nvSpPr>
          <p:cNvPr id="11" name="Rounded Rectangle 10"/>
          <p:cNvSpPr/>
          <p:nvPr/>
        </p:nvSpPr>
        <p:spPr>
          <a:xfrm>
            <a:off x="3108960" y="4023360"/>
            <a:ext cx="896112" cy="548640"/>
          </a:xfrm>
          <a:prstGeom prst="roundRect">
            <a:avLst/>
          </a:prstGeom>
          <a:solidFill>
            <a:srgbClr val="131F33"/>
          </a:solidFill>
          <a:ln w="15875">
            <a:solidFill>
              <a:srgbClr val="3A4455"/>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150" b="1">
                <a:solidFill>
                  <a:srgbClr val="F4F7FB"/>
                </a:solidFill>
                <a:latin typeface="Segoe UI"/>
              </a:rPr>
              <a:t>Jira</a:t>
            </a:r>
          </a:p>
        </p:txBody>
      </p:sp>
      <p:sp>
        <p:nvSpPr>
          <p:cNvPr id="12" name="Rounded Rectangle 11"/>
          <p:cNvSpPr/>
          <p:nvPr/>
        </p:nvSpPr>
        <p:spPr>
          <a:xfrm>
            <a:off x="4050792" y="4023360"/>
            <a:ext cx="896112" cy="548640"/>
          </a:xfrm>
          <a:prstGeom prst="roundRect">
            <a:avLst/>
          </a:prstGeom>
          <a:solidFill>
            <a:srgbClr val="131F33"/>
          </a:solidFill>
          <a:ln w="15875">
            <a:solidFill>
              <a:srgbClr val="3A4455"/>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150" b="1">
                <a:solidFill>
                  <a:srgbClr val="F4F7FB"/>
                </a:solidFill>
                <a:latin typeface="Segoe UI"/>
              </a:rPr>
              <a:t>GitHub</a:t>
            </a:r>
          </a:p>
        </p:txBody>
      </p:sp>
      <p:sp>
        <p:nvSpPr>
          <p:cNvPr id="13" name="Rounded Rectangle 12"/>
          <p:cNvSpPr/>
          <p:nvPr/>
        </p:nvSpPr>
        <p:spPr>
          <a:xfrm>
            <a:off x="4992624" y="4023360"/>
            <a:ext cx="896112" cy="548640"/>
          </a:xfrm>
          <a:prstGeom prst="roundRect">
            <a:avLst/>
          </a:prstGeom>
          <a:solidFill>
            <a:srgbClr val="131F33"/>
          </a:solidFill>
          <a:ln w="15875">
            <a:solidFill>
              <a:srgbClr val="3A4455"/>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150" b="1">
                <a:solidFill>
                  <a:srgbClr val="F4F7FB"/>
                </a:solidFill>
                <a:latin typeface="Segoe UI"/>
              </a:rPr>
              <a:t>CI/CD</a:t>
            </a:r>
          </a:p>
        </p:txBody>
      </p:sp>
      <p:sp>
        <p:nvSpPr>
          <p:cNvPr id="14" name="Rounded Rectangle 13"/>
          <p:cNvSpPr/>
          <p:nvPr/>
        </p:nvSpPr>
        <p:spPr>
          <a:xfrm>
            <a:off x="5934456" y="4023360"/>
            <a:ext cx="896112" cy="548640"/>
          </a:xfrm>
          <a:prstGeom prst="roundRect">
            <a:avLst/>
          </a:prstGeom>
          <a:solidFill>
            <a:srgbClr val="131F33"/>
          </a:solidFill>
          <a:ln w="15875">
            <a:solidFill>
              <a:srgbClr val="3A4455"/>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150" b="1">
                <a:solidFill>
                  <a:srgbClr val="F4F7FB"/>
                </a:solidFill>
                <a:latin typeface="Segoe UI"/>
              </a:rPr>
              <a:t>Monitoring</a:t>
            </a:r>
          </a:p>
        </p:txBody>
      </p:sp>
      <p:sp>
        <p:nvSpPr>
          <p:cNvPr id="15" name="Rounded Rectangle 14"/>
          <p:cNvSpPr/>
          <p:nvPr/>
        </p:nvSpPr>
        <p:spPr>
          <a:xfrm>
            <a:off x="6876288" y="4023360"/>
            <a:ext cx="896112" cy="548640"/>
          </a:xfrm>
          <a:prstGeom prst="roundRect">
            <a:avLst/>
          </a:prstGeom>
          <a:solidFill>
            <a:srgbClr val="131F33"/>
          </a:solidFill>
          <a:ln w="15875">
            <a:solidFill>
              <a:srgbClr val="3A4455"/>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150" b="1">
                <a:solidFill>
                  <a:srgbClr val="F4F7FB"/>
                </a:solidFill>
                <a:latin typeface="Segoe UI"/>
              </a:rPr>
              <a:t>Incidents</a:t>
            </a:r>
          </a:p>
        </p:txBody>
      </p:sp>
      <p:sp>
        <p:nvSpPr>
          <p:cNvPr id="16" name="Rounded Rectangle 15"/>
          <p:cNvSpPr/>
          <p:nvPr/>
        </p:nvSpPr>
        <p:spPr>
          <a:xfrm>
            <a:off x="7818120" y="4023360"/>
            <a:ext cx="896112" cy="548640"/>
          </a:xfrm>
          <a:prstGeom prst="roundRect">
            <a:avLst/>
          </a:prstGeom>
          <a:solidFill>
            <a:srgbClr val="131F33"/>
          </a:solidFill>
          <a:ln w="15875">
            <a:solidFill>
              <a:srgbClr val="3A4455"/>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150" b="1">
                <a:solidFill>
                  <a:srgbClr val="F4F7FB"/>
                </a:solidFill>
                <a:latin typeface="Segoe UI"/>
              </a:rPr>
              <a:t>Log RAG</a:t>
            </a:r>
          </a:p>
        </p:txBody>
      </p:sp>
      <p:sp>
        <p:nvSpPr>
          <p:cNvPr id="17" name="TextBox 16"/>
          <p:cNvSpPr txBox="1"/>
          <p:nvPr/>
        </p:nvSpPr>
        <p:spPr>
          <a:xfrm>
            <a:off x="9052560" y="1783080"/>
            <a:ext cx="3657600" cy="274320"/>
          </a:xfrm>
          <a:prstGeom prst="rect">
            <a:avLst/>
          </a:prstGeom>
          <a:noFill/>
        </p:spPr>
        <p:txBody>
          <a:bodyPr wrap="square">
            <a:spAutoFit/>
          </a:bodyPr>
          <a:lstStyle/>
          <a:p>
            <a:pPr algn="l"/>
            <a:r>
              <a:rPr sz="1100" b="1" i="0">
                <a:solidFill>
                  <a:srgbClr val="39C0C5"/>
                </a:solidFill>
                <a:latin typeface="Segoe UI"/>
              </a:rPr>
              <a:t>EXTERNAL SERVICES</a:t>
            </a:r>
          </a:p>
        </p:txBody>
      </p:sp>
      <p:sp>
        <p:nvSpPr>
          <p:cNvPr id="18" name="Rounded Rectangle 17"/>
          <p:cNvSpPr/>
          <p:nvPr/>
        </p:nvSpPr>
        <p:spPr>
          <a:xfrm>
            <a:off x="9052560" y="2057400"/>
            <a:ext cx="2651760" cy="640080"/>
          </a:xfrm>
          <a:prstGeom prst="roundRect">
            <a:avLst/>
          </a:prstGeom>
          <a:solidFill>
            <a:srgbClr val="131F33"/>
          </a:solidFill>
          <a:ln w="15875">
            <a:solidFill>
              <a:srgbClr val="1F6E73"/>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250" b="1">
                <a:solidFill>
                  <a:srgbClr val="F4F7FB"/>
                </a:solidFill>
                <a:latin typeface="Segoe UI"/>
              </a:rPr>
              <a:t>NVIDIA NIM</a:t>
            </a:r>
          </a:p>
          <a:p>
            <a:pPr algn="ctr"/>
            <a:r>
              <a:rPr sz="1050">
                <a:solidFill>
                  <a:srgbClr val="A9B6C7"/>
                </a:solidFill>
                <a:latin typeface="Segoe UI"/>
              </a:rPr>
              <a:t>chat completions + embeddings</a:t>
            </a:r>
          </a:p>
        </p:txBody>
      </p:sp>
      <p:sp>
        <p:nvSpPr>
          <p:cNvPr id="19" name="Rounded Rectangle 18"/>
          <p:cNvSpPr/>
          <p:nvPr/>
        </p:nvSpPr>
        <p:spPr>
          <a:xfrm>
            <a:off x="9052560" y="2834640"/>
            <a:ext cx="2651760" cy="548640"/>
          </a:xfrm>
          <a:prstGeom prst="roundRect">
            <a:avLst/>
          </a:prstGeom>
          <a:solidFill>
            <a:srgbClr val="131F33"/>
          </a:solidFill>
          <a:ln w="15875">
            <a:solidFill>
              <a:srgbClr val="1F6E73"/>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200" b="1">
                <a:solidFill>
                  <a:srgbClr val="F4F7FB"/>
                </a:solidFill>
                <a:latin typeface="Segoe UI"/>
              </a:rPr>
              <a:t>GitHub remote MCP</a:t>
            </a:r>
          </a:p>
        </p:txBody>
      </p:sp>
      <p:sp>
        <p:nvSpPr>
          <p:cNvPr id="20" name="Rounded Rectangle 19"/>
          <p:cNvSpPr/>
          <p:nvPr/>
        </p:nvSpPr>
        <p:spPr>
          <a:xfrm>
            <a:off x="9052560" y="3520440"/>
            <a:ext cx="2651760" cy="548640"/>
          </a:xfrm>
          <a:prstGeom prst="roundRect">
            <a:avLst/>
          </a:prstGeom>
          <a:solidFill>
            <a:srgbClr val="131F33"/>
          </a:solidFill>
          <a:ln w="15875">
            <a:solidFill>
              <a:srgbClr val="1F6E73"/>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200" b="1">
                <a:solidFill>
                  <a:srgbClr val="F4F7FB"/>
                </a:solidFill>
                <a:latin typeface="Segoe UI"/>
              </a:rPr>
              <a:t>Atlassian remote MCP</a:t>
            </a:r>
          </a:p>
        </p:txBody>
      </p:sp>
      <p:sp>
        <p:nvSpPr>
          <p:cNvPr id="21" name="Rounded Rectangle 20"/>
          <p:cNvSpPr/>
          <p:nvPr/>
        </p:nvSpPr>
        <p:spPr>
          <a:xfrm>
            <a:off x="9052560" y="4206240"/>
            <a:ext cx="2651760" cy="685800"/>
          </a:xfrm>
          <a:prstGeom prst="roundRect">
            <a:avLst/>
          </a:prstGeom>
          <a:solidFill>
            <a:srgbClr val="131F33"/>
          </a:solidFill>
          <a:ln w="15875">
            <a:solidFill>
              <a:srgbClr val="1F6E73"/>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250" b="1">
                <a:solidFill>
                  <a:srgbClr val="F4F7FB"/>
                </a:solidFill>
                <a:latin typeface="Segoe UI"/>
              </a:rPr>
              <a:t>Postgres + pgvector</a:t>
            </a:r>
          </a:p>
          <a:p>
            <a:pPr algn="ctr"/>
            <a:r>
              <a:rPr sz="1050">
                <a:solidFill>
                  <a:srgbClr val="A9B6C7"/>
                </a:solidFill>
                <a:latin typeface="Segoe UI"/>
              </a:rPr>
              <a:t>conversations, log_chunks</a:t>
            </a:r>
          </a:p>
        </p:txBody>
      </p:sp>
      <p:cxnSp>
        <p:nvCxnSpPr>
          <p:cNvPr id="22" name="Connector 21"/>
          <p:cNvCxnSpPr/>
          <p:nvPr/>
        </p:nvCxnSpPr>
        <p:spPr>
          <a:xfrm flipV="1">
            <a:off x="2651760" y="2377440"/>
            <a:ext cx="457200" cy="68580"/>
          </a:xfrm>
          <a:prstGeom prst="line">
            <a:avLst/>
          </a:prstGeom>
          <a:ln w="19050">
            <a:solidFill>
              <a:srgbClr val="1F6E7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251960" y="2697480"/>
            <a:ext cx="0" cy="228600"/>
          </a:xfrm>
          <a:prstGeom prst="line">
            <a:avLst/>
          </a:prstGeom>
          <a:ln w="19050">
            <a:solidFill>
              <a:srgbClr val="1F6E7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251960" y="3749040"/>
            <a:ext cx="1545336" cy="274320"/>
          </a:xfrm>
          <a:prstGeom prst="line">
            <a:avLst/>
          </a:prstGeom>
          <a:ln w="19050">
            <a:solidFill>
              <a:srgbClr val="1F6E7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5394960" y="2377440"/>
            <a:ext cx="3657600" cy="960120"/>
          </a:xfrm>
          <a:prstGeom prst="line">
            <a:avLst/>
          </a:prstGeom>
          <a:ln w="19050">
            <a:solidFill>
              <a:srgbClr val="1F6E7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050792" y="3108960"/>
            <a:ext cx="5001768" cy="914400"/>
          </a:xfrm>
          <a:prstGeom prst="line">
            <a:avLst/>
          </a:prstGeom>
          <a:ln w="19050">
            <a:solidFill>
              <a:srgbClr val="1F6E73"/>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108960" y="3794760"/>
            <a:ext cx="5943600" cy="228600"/>
          </a:xfrm>
          <a:prstGeom prst="line">
            <a:avLst/>
          </a:prstGeom>
          <a:ln w="19050">
            <a:solidFill>
              <a:srgbClr val="1F6E73"/>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7818120" y="4549140"/>
            <a:ext cx="1234440" cy="22860"/>
          </a:xfrm>
          <a:prstGeom prst="line">
            <a:avLst/>
          </a:prstGeom>
          <a:ln w="19050">
            <a:solidFill>
              <a:srgbClr val="1F6E73"/>
            </a:solidFill>
            <a:prstDash val="dash"/>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40080" y="6263640"/>
            <a:ext cx="10881360" cy="457200"/>
          </a:xfrm>
          <a:prstGeom prst="rect">
            <a:avLst/>
          </a:prstGeom>
          <a:noFill/>
        </p:spPr>
        <p:txBody>
          <a:bodyPr wrap="square">
            <a:spAutoFit/>
          </a:bodyPr>
          <a:lstStyle/>
          <a:p>
            <a:pPr algn="l"/>
            <a:r>
              <a:rPr sz="1250" b="0" i="1">
                <a:solidFill>
                  <a:srgbClr val="A9B6C7"/>
                </a:solidFill>
                <a:latin typeface="Segoe UI"/>
              </a:rPr>
              <a:t>Zero-param tools by design; GitHub/Jira reached via their official remote MCP servers, not raw REST.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422"/>
        </a:solidFill>
        <a:effectLst/>
      </p:bgPr>
    </p:bg>
    <p:spTree>
      <p:nvGrpSpPr>
        <p:cNvPr id="1" name=""/>
        <p:cNvGrpSpPr/>
        <p:nvPr/>
      </p:nvGrpSpPr>
      <p:grpSpPr/>
      <p:sp>
        <p:nvSpPr>
          <p:cNvPr id="2" name="TextBox 1"/>
          <p:cNvSpPr txBox="1"/>
          <p:nvPr/>
        </p:nvSpPr>
        <p:spPr>
          <a:xfrm>
            <a:off x="640080" y="365760"/>
            <a:ext cx="7315200" cy="365760"/>
          </a:xfrm>
          <a:prstGeom prst="rect">
            <a:avLst/>
          </a:prstGeom>
          <a:noFill/>
        </p:spPr>
        <p:txBody>
          <a:bodyPr wrap="square">
            <a:spAutoFit/>
          </a:bodyPr>
          <a:lstStyle/>
          <a:p>
            <a:pPr algn="l"/>
            <a:r>
              <a:rPr sz="1400" b="1" i="0">
                <a:solidFill>
                  <a:srgbClr val="39C0C5"/>
                </a:solidFill>
                <a:latin typeface="Segoe UI"/>
              </a:rPr>
              <a:t>WHAT'S NOVEL</a:t>
            </a:r>
          </a:p>
        </p:txBody>
      </p:sp>
      <p:sp>
        <p:nvSpPr>
          <p:cNvPr id="3" name="TextBox 2"/>
          <p:cNvSpPr txBox="1"/>
          <p:nvPr/>
        </p:nvSpPr>
        <p:spPr>
          <a:xfrm>
            <a:off x="640080" y="685800"/>
            <a:ext cx="10972800" cy="822960"/>
          </a:xfrm>
          <a:prstGeom prst="rect">
            <a:avLst/>
          </a:prstGeom>
          <a:noFill/>
        </p:spPr>
        <p:txBody>
          <a:bodyPr wrap="square">
            <a:spAutoFit/>
          </a:bodyPr>
          <a:lstStyle/>
          <a:p>
            <a:pPr algn="l"/>
            <a:r>
              <a:rPr sz="3200" b="1" i="0">
                <a:solidFill>
                  <a:srgbClr val="F4F7FB"/>
                </a:solidFill>
                <a:latin typeface="Segoe UI"/>
              </a:rPr>
              <a:t>Built on real integration constraints, not a toy demo</a:t>
            </a:r>
          </a:p>
        </p:txBody>
      </p:sp>
      <p:sp>
        <p:nvSpPr>
          <p:cNvPr id="4" name="Rectangle 3"/>
          <p:cNvSpPr/>
          <p:nvPr/>
        </p:nvSpPr>
        <p:spPr>
          <a:xfrm>
            <a:off x="658368" y="1463040"/>
            <a:ext cx="1005840" cy="50800"/>
          </a:xfrm>
          <a:prstGeom prst="rect">
            <a:avLst/>
          </a:prstGeom>
          <a:solidFill>
            <a:srgbClr val="39C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20240"/>
            <a:ext cx="10881360" cy="4206240"/>
          </a:xfrm>
          <a:prstGeom prst="rect">
            <a:avLst/>
          </a:prstGeom>
          <a:noFill/>
        </p:spPr>
        <p:txBody>
          <a:bodyPr wrap="square">
            <a:spAutoFit/>
          </a:bodyPr>
          <a:lstStyle/>
          <a:p>
            <a:pPr>
              <a:lnSpc>
                <a:spcPct val="115000"/>
              </a:lnSpc>
              <a:spcAft>
                <a:spcPts val="1100"/>
              </a:spcAft>
            </a:pPr>
            <a:r>
              <a:rPr sz="1650" b="1">
                <a:solidFill>
                  <a:srgbClr val="39C0C5"/>
                </a:solidFill>
                <a:latin typeface="Segoe UI"/>
              </a:rPr>
              <a:t>Real remote MCP  </a:t>
            </a:r>
            <a:r>
              <a:rPr sz="1650">
                <a:solidFill>
                  <a:srgbClr val="F4F7FB"/>
                </a:solidFill>
                <a:latin typeface="Segoe UI"/>
              </a:rPr>
              <a:t>GitHub and Jira data comes through their official remote MCP servers — not a REST wrapper</a:t>
            </a:r>
          </a:p>
          <a:p>
            <a:pPr>
              <a:lnSpc>
                <a:spcPct val="115000"/>
              </a:lnSpc>
              <a:spcAft>
                <a:spcPts val="1100"/>
              </a:spcAft>
            </a:pPr>
            <a:r>
              <a:rPr sz="1650" b="1">
                <a:solidFill>
                  <a:srgbClr val="39C0C5"/>
                </a:solidFill>
                <a:latin typeface="Segoe UI"/>
              </a:rPr>
              <a:t>RAG over logs  </a:t>
            </a:r>
            <a:r>
              <a:rPr sz="1650">
                <a:solidFill>
                  <a:srgbClr val="F4F7FB"/>
                </a:solidFill>
                <a:latin typeface="Segoe UI"/>
              </a:rPr>
              <a:t>pgvector-backed semantic search over CI/CD + application logs, as a 6th agent tool</a:t>
            </a:r>
          </a:p>
          <a:p>
            <a:pPr>
              <a:lnSpc>
                <a:spcPct val="115000"/>
              </a:lnSpc>
              <a:spcAft>
                <a:spcPts val="1100"/>
              </a:spcAft>
            </a:pPr>
            <a:r>
              <a:rPr sz="1650" b="1">
                <a:solidFill>
                  <a:srgbClr val="39C0C5"/>
                </a:solidFill>
                <a:latin typeface="Segoe UI"/>
              </a:rPr>
              <a:t>Single-tool-call design  </a:t>
            </a:r>
            <a:r>
              <a:rPr sz="1650">
                <a:solidFill>
                  <a:srgbClr val="F4F7FB"/>
                </a:solidFill>
                <a:latin typeface="Segoe UI"/>
              </a:rPr>
              <a:t>engineered around a real model constraint (kimi-k2.6 rejects batched tool calls) instead of switching models</a:t>
            </a:r>
          </a:p>
          <a:p>
            <a:pPr>
              <a:lnSpc>
                <a:spcPct val="115000"/>
              </a:lnSpc>
              <a:spcAft>
                <a:spcPts val="1100"/>
              </a:spcAft>
            </a:pPr>
            <a:r>
              <a:rPr sz="1650" b="1">
                <a:solidFill>
                  <a:srgbClr val="39C0C5"/>
                </a:solidFill>
                <a:latin typeface="Segoe UI"/>
              </a:rPr>
              <a:t>Zero-param tools  </a:t>
            </a:r>
            <a:r>
              <a:rPr sz="1650">
                <a:solidFill>
                  <a:srgbClr val="F4F7FB"/>
                </a:solidFill>
                <a:latin typeface="Segoe UI"/>
              </a:rPr>
              <a:t>each tool targets one configured repo/project/service — avoids the model hallucinating a plausible but wrong target</a:t>
            </a:r>
          </a:p>
          <a:p>
            <a:pPr>
              <a:lnSpc>
                <a:spcPct val="115000"/>
              </a:lnSpc>
              <a:spcAft>
                <a:spcPts val="1100"/>
              </a:spcAft>
            </a:pPr>
            <a:r>
              <a:rPr sz="1650" b="1">
                <a:solidFill>
                  <a:srgbClr val="39C0C5"/>
                </a:solidFill>
                <a:latin typeface="Segoe UI"/>
              </a:rPr>
              <a:t>Automatic model fallback  </a:t>
            </a:r>
            <a:r>
              <a:rPr sz="1650">
                <a:solidFill>
                  <a:srgbClr val="F4F7FB"/>
                </a:solidFill>
                <a:latin typeface="Segoe UI"/>
              </a:rPr>
              <a:t>falls back to a secondary NIM model mid-run if the primary is unavailable, no retry storm</a:t>
            </a:r>
          </a:p>
          <a:p>
            <a:pPr>
              <a:lnSpc>
                <a:spcPct val="115000"/>
              </a:lnSpc>
              <a:spcAft>
                <a:spcPts val="1100"/>
              </a:spcAft>
            </a:pPr>
            <a:r>
              <a:rPr sz="1650" b="1">
                <a:solidFill>
                  <a:srgbClr val="39C0C5"/>
                </a:solidFill>
                <a:latin typeface="Segoe UI"/>
              </a:rPr>
              <a:t>Zero-credential demoable  </a:t>
            </a:r>
            <a:r>
              <a:rPr sz="1650">
                <a:solidFill>
                  <a:srgbClr val="F4F7FB"/>
                </a:solidFill>
                <a:latin typeface="Segoe UI"/>
              </a:rPr>
              <a:t>every integration ships realistic mock data by default — the full app runs with no third-party keys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422"/>
        </a:solidFill>
        <a:effectLst/>
      </p:bgPr>
    </p:bg>
    <p:spTree>
      <p:nvGrpSpPr>
        <p:cNvPr id="1" name=""/>
        <p:cNvGrpSpPr/>
        <p:nvPr/>
      </p:nvGrpSpPr>
      <p:grpSpPr/>
      <p:sp>
        <p:nvSpPr>
          <p:cNvPr id="2" name="TextBox 1"/>
          <p:cNvSpPr txBox="1"/>
          <p:nvPr/>
        </p:nvSpPr>
        <p:spPr>
          <a:xfrm>
            <a:off x="640080" y="365760"/>
            <a:ext cx="7315200" cy="365760"/>
          </a:xfrm>
          <a:prstGeom prst="rect">
            <a:avLst/>
          </a:prstGeom>
          <a:noFill/>
        </p:spPr>
        <p:txBody>
          <a:bodyPr wrap="square">
            <a:spAutoFit/>
          </a:bodyPr>
          <a:lstStyle/>
          <a:p>
            <a:pPr algn="l"/>
            <a:r>
              <a:rPr sz="1400" b="1" i="0">
                <a:solidFill>
                  <a:srgbClr val="39C0C5"/>
                </a:solidFill>
                <a:latin typeface="Segoe UI"/>
              </a:rPr>
              <a:t>UNDER THE HOOD</a:t>
            </a:r>
          </a:p>
        </p:txBody>
      </p:sp>
      <p:sp>
        <p:nvSpPr>
          <p:cNvPr id="3" name="TextBox 2"/>
          <p:cNvSpPr txBox="1"/>
          <p:nvPr/>
        </p:nvSpPr>
        <p:spPr>
          <a:xfrm>
            <a:off x="640080" y="685800"/>
            <a:ext cx="10972800" cy="822960"/>
          </a:xfrm>
          <a:prstGeom prst="rect">
            <a:avLst/>
          </a:prstGeom>
          <a:noFill/>
        </p:spPr>
        <p:txBody>
          <a:bodyPr wrap="square">
            <a:spAutoFit/>
          </a:bodyPr>
          <a:lstStyle/>
          <a:p>
            <a:pPr algn="l"/>
            <a:r>
              <a:rPr sz="3200" b="1" i="0">
                <a:solidFill>
                  <a:srgbClr val="F4F7FB"/>
                </a:solidFill>
                <a:latin typeface="Segoe UI"/>
              </a:rPr>
              <a:t>Tech stack</a:t>
            </a:r>
          </a:p>
        </p:txBody>
      </p:sp>
      <p:sp>
        <p:nvSpPr>
          <p:cNvPr id="4" name="Rectangle 3"/>
          <p:cNvSpPr/>
          <p:nvPr/>
        </p:nvSpPr>
        <p:spPr>
          <a:xfrm>
            <a:off x="658368" y="1463040"/>
            <a:ext cx="1005840" cy="50800"/>
          </a:xfrm>
          <a:prstGeom prst="rect">
            <a:avLst/>
          </a:prstGeom>
          <a:solidFill>
            <a:srgbClr val="39C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920240"/>
            <a:ext cx="2697480" cy="3931920"/>
          </a:xfrm>
          <a:prstGeom prst="roundRect">
            <a:avLst/>
          </a:prstGeom>
          <a:solidFill>
            <a:srgbClr val="131F33"/>
          </a:solidFill>
          <a:ln w="15875">
            <a:solidFill>
              <a:srgbClr val="39C0C5"/>
            </a:solidFill>
          </a:ln>
          <a:effectLst/>
        </p:spPr>
        <p:style>
          <a:lnRef idx="1">
            <a:schemeClr val="accent1"/>
          </a:lnRef>
          <a:fillRef idx="3">
            <a:schemeClr val="accent1"/>
          </a:fillRef>
          <a:effectRef idx="2">
            <a:schemeClr val="accent1"/>
          </a:effectRef>
          <a:fontRef idx="minor">
            <a:schemeClr val="lt1"/>
          </a:fontRef>
        </p:style>
        <p:txBody>
          <a:bodyPr rtlCol="0" anchor="t" wrap="square" lIns="152400" rIns="76200" tIns="152400" bIns="50800"/>
          <a:lstStyle/>
          <a:p>
            <a:pPr algn="ctr">
              <a:spcAft>
                <a:spcPts val="1000"/>
              </a:spcAft>
            </a:pPr>
            <a:r>
              <a:rPr sz="1600" b="1">
                <a:solidFill>
                  <a:srgbClr val="39C0C5"/>
                </a:solidFill>
                <a:latin typeface="Segoe UI"/>
              </a:rPr>
              <a:t>Backend</a:t>
            </a:r>
          </a:p>
          <a:p>
            <a:pPr algn="l">
              <a:spcAft>
                <a:spcPts val="800"/>
              </a:spcAft>
            </a:pPr>
            <a:r>
              <a:rPr sz="1300" b="0">
                <a:solidFill>
                  <a:srgbClr val="F4F7FB"/>
                </a:solidFill>
                <a:latin typeface="Segoe UI"/>
              </a:rPr>
              <a:t>• FastAPI</a:t>
            </a:r>
          </a:p>
          <a:p>
            <a:pPr algn="l">
              <a:spcAft>
                <a:spcPts val="800"/>
              </a:spcAft>
            </a:pPr>
            <a:r>
              <a:rPr sz="1300" b="0">
                <a:solidFill>
                  <a:srgbClr val="F4F7FB"/>
                </a:solidFill>
                <a:latin typeface="Segoe UI"/>
              </a:rPr>
              <a:t>• SQLAlchemy (async)</a:t>
            </a:r>
          </a:p>
          <a:p>
            <a:pPr algn="l">
              <a:spcAft>
                <a:spcPts val="800"/>
              </a:spcAft>
            </a:pPr>
            <a:r>
              <a:rPr sz="1300" b="0">
                <a:solidFill>
                  <a:srgbClr val="F4F7FB"/>
                </a:solidFill>
                <a:latin typeface="Segoe UI"/>
              </a:rPr>
              <a:t>• PostgreSQL + pgvector</a:t>
            </a:r>
          </a:p>
        </p:txBody>
      </p:sp>
      <p:sp>
        <p:nvSpPr>
          <p:cNvPr id="6" name="Rounded Rectangle 5"/>
          <p:cNvSpPr/>
          <p:nvPr/>
        </p:nvSpPr>
        <p:spPr>
          <a:xfrm>
            <a:off x="3474720" y="1920240"/>
            <a:ext cx="2697480" cy="3931920"/>
          </a:xfrm>
          <a:prstGeom prst="roundRect">
            <a:avLst/>
          </a:prstGeom>
          <a:solidFill>
            <a:srgbClr val="131F33"/>
          </a:solidFill>
          <a:ln w="15875">
            <a:solidFill>
              <a:srgbClr val="39C0C5"/>
            </a:solidFill>
          </a:ln>
          <a:effectLst/>
        </p:spPr>
        <p:style>
          <a:lnRef idx="1">
            <a:schemeClr val="accent1"/>
          </a:lnRef>
          <a:fillRef idx="3">
            <a:schemeClr val="accent1"/>
          </a:fillRef>
          <a:effectRef idx="2">
            <a:schemeClr val="accent1"/>
          </a:effectRef>
          <a:fontRef idx="minor">
            <a:schemeClr val="lt1"/>
          </a:fontRef>
        </p:style>
        <p:txBody>
          <a:bodyPr rtlCol="0" anchor="t" wrap="square" lIns="152400" rIns="76200" tIns="152400" bIns="50800"/>
          <a:lstStyle/>
          <a:p>
            <a:pPr algn="ctr">
              <a:spcAft>
                <a:spcPts val="1000"/>
              </a:spcAft>
            </a:pPr>
            <a:r>
              <a:rPr sz="1600" b="1">
                <a:solidFill>
                  <a:srgbClr val="39C0C5"/>
                </a:solidFill>
                <a:latin typeface="Segoe UI"/>
              </a:rPr>
              <a:t>Frontend</a:t>
            </a:r>
          </a:p>
          <a:p>
            <a:pPr algn="l">
              <a:spcAft>
                <a:spcPts val="800"/>
              </a:spcAft>
            </a:pPr>
            <a:r>
              <a:rPr sz="1300" b="0">
                <a:solidFill>
                  <a:srgbClr val="F4F7FB"/>
                </a:solidFill>
                <a:latin typeface="Segoe UI"/>
              </a:rPr>
              <a:t>• React (Vite)</a:t>
            </a:r>
          </a:p>
          <a:p>
            <a:pPr algn="l">
              <a:spcAft>
                <a:spcPts val="800"/>
              </a:spcAft>
            </a:pPr>
            <a:r>
              <a:rPr sz="1300" b="0">
                <a:solidFill>
                  <a:srgbClr val="F4F7FB"/>
                </a:solidFill>
                <a:latin typeface="Segoe UI"/>
              </a:rPr>
              <a:t>• Single-page chat UI</a:t>
            </a:r>
          </a:p>
        </p:txBody>
      </p:sp>
      <p:sp>
        <p:nvSpPr>
          <p:cNvPr id="7" name="Rounded Rectangle 6"/>
          <p:cNvSpPr/>
          <p:nvPr/>
        </p:nvSpPr>
        <p:spPr>
          <a:xfrm>
            <a:off x="6309360" y="1920240"/>
            <a:ext cx="2697480" cy="3931920"/>
          </a:xfrm>
          <a:prstGeom prst="roundRect">
            <a:avLst/>
          </a:prstGeom>
          <a:solidFill>
            <a:srgbClr val="131F33"/>
          </a:solidFill>
          <a:ln w="15875">
            <a:solidFill>
              <a:srgbClr val="39C0C5"/>
            </a:solidFill>
          </a:ln>
          <a:effectLst/>
        </p:spPr>
        <p:style>
          <a:lnRef idx="1">
            <a:schemeClr val="accent1"/>
          </a:lnRef>
          <a:fillRef idx="3">
            <a:schemeClr val="accent1"/>
          </a:fillRef>
          <a:effectRef idx="2">
            <a:schemeClr val="accent1"/>
          </a:effectRef>
          <a:fontRef idx="minor">
            <a:schemeClr val="lt1"/>
          </a:fontRef>
        </p:style>
        <p:txBody>
          <a:bodyPr rtlCol="0" anchor="t" wrap="square" lIns="152400" rIns="76200" tIns="152400" bIns="50800"/>
          <a:lstStyle/>
          <a:p>
            <a:pPr algn="ctr">
              <a:spcAft>
                <a:spcPts val="1000"/>
              </a:spcAft>
            </a:pPr>
            <a:r>
              <a:rPr sz="1600" b="1">
                <a:solidFill>
                  <a:srgbClr val="39C0C5"/>
                </a:solidFill>
                <a:latin typeface="Segoe UI"/>
              </a:rPr>
              <a:t>AI / Agent</a:t>
            </a:r>
          </a:p>
          <a:p>
            <a:pPr algn="l">
              <a:spcAft>
                <a:spcPts val="800"/>
              </a:spcAft>
            </a:pPr>
            <a:r>
              <a:rPr sz="1300" b="0">
                <a:solidFill>
                  <a:srgbClr val="F4F7FB"/>
                </a:solidFill>
                <a:latin typeface="Segoe UI"/>
              </a:rPr>
              <a:t>• NVIDIA NIM (OpenAI-compatible)</a:t>
            </a:r>
          </a:p>
          <a:p>
            <a:pPr algn="l">
              <a:spcAft>
                <a:spcPts val="800"/>
              </a:spcAft>
            </a:pPr>
            <a:r>
              <a:rPr sz="1300" b="0">
                <a:solidFill>
                  <a:srgbClr val="F4F7FB"/>
                </a:solidFill>
                <a:latin typeface="Segoe UI"/>
              </a:rPr>
              <a:t>• moonshotai/kimi-k2.6 (default)</a:t>
            </a:r>
          </a:p>
          <a:p>
            <a:pPr algn="l">
              <a:spcAft>
                <a:spcPts val="800"/>
              </a:spcAft>
            </a:pPr>
            <a:r>
              <a:rPr sz="1300" b="0">
                <a:solidFill>
                  <a:srgbClr val="F4F7FB"/>
                </a:solidFill>
                <a:latin typeface="Segoe UI"/>
              </a:rPr>
              <a:t>• meta/llama-3.1-70b-instruct (fallback)</a:t>
            </a:r>
          </a:p>
          <a:p>
            <a:pPr algn="l">
              <a:spcAft>
                <a:spcPts val="800"/>
              </a:spcAft>
            </a:pPr>
            <a:r>
              <a:rPr sz="1300" b="0">
                <a:solidFill>
                  <a:srgbClr val="F4F7FB"/>
                </a:solidFill>
                <a:latin typeface="Segoe UI"/>
              </a:rPr>
              <a:t>• nvidia/nv-embedqa-e5-v5</a:t>
            </a:r>
          </a:p>
        </p:txBody>
      </p:sp>
      <p:sp>
        <p:nvSpPr>
          <p:cNvPr id="8" name="Rounded Rectangle 7"/>
          <p:cNvSpPr/>
          <p:nvPr/>
        </p:nvSpPr>
        <p:spPr>
          <a:xfrm>
            <a:off x="9144000" y="1920240"/>
            <a:ext cx="2697480" cy="3931920"/>
          </a:xfrm>
          <a:prstGeom prst="roundRect">
            <a:avLst/>
          </a:prstGeom>
          <a:solidFill>
            <a:srgbClr val="131F33"/>
          </a:solidFill>
          <a:ln w="15875">
            <a:solidFill>
              <a:srgbClr val="39C0C5"/>
            </a:solidFill>
          </a:ln>
          <a:effectLst/>
        </p:spPr>
        <p:style>
          <a:lnRef idx="1">
            <a:schemeClr val="accent1"/>
          </a:lnRef>
          <a:fillRef idx="3">
            <a:schemeClr val="accent1"/>
          </a:fillRef>
          <a:effectRef idx="2">
            <a:schemeClr val="accent1"/>
          </a:effectRef>
          <a:fontRef idx="minor">
            <a:schemeClr val="lt1"/>
          </a:fontRef>
        </p:style>
        <p:txBody>
          <a:bodyPr rtlCol="0" anchor="t" wrap="square" lIns="152400" rIns="76200" tIns="152400" bIns="50800"/>
          <a:lstStyle/>
          <a:p>
            <a:pPr algn="ctr">
              <a:spcAft>
                <a:spcPts val="1000"/>
              </a:spcAft>
            </a:pPr>
            <a:r>
              <a:rPr sz="1600" b="1">
                <a:solidFill>
                  <a:srgbClr val="39C0C5"/>
                </a:solidFill>
                <a:latin typeface="Segoe UI"/>
              </a:rPr>
              <a:t>Integrations</a:t>
            </a:r>
          </a:p>
          <a:p>
            <a:pPr algn="l">
              <a:spcAft>
                <a:spcPts val="800"/>
              </a:spcAft>
            </a:pPr>
            <a:r>
              <a:rPr sz="1300" b="0">
                <a:solidFill>
                  <a:srgbClr val="F4F7FB"/>
                </a:solidFill>
                <a:latin typeface="Segoe UI"/>
              </a:rPr>
              <a:t>• GitHub remote MCP</a:t>
            </a:r>
          </a:p>
          <a:p>
            <a:pPr algn="l">
              <a:spcAft>
                <a:spcPts val="800"/>
              </a:spcAft>
            </a:pPr>
            <a:r>
              <a:rPr sz="1300" b="0">
                <a:solidFill>
                  <a:srgbClr val="F4F7FB"/>
                </a:solidFill>
                <a:latin typeface="Segoe UI"/>
              </a:rPr>
              <a:t>• Atlassian (Jira) remote MCP</a:t>
            </a:r>
          </a:p>
          <a:p>
            <a:pPr algn="l">
              <a:spcAft>
                <a:spcPts val="800"/>
              </a:spcAft>
            </a:pPr>
            <a:r>
              <a:rPr sz="1300" b="0">
                <a:solidFill>
                  <a:srgbClr val="F4F7FB"/>
                </a:solidFill>
                <a:latin typeface="Segoe UI"/>
              </a:rPr>
              <a:t>• Mock monitoring/incidents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422"/>
        </a:solidFill>
        <a:effectLst/>
      </p:bgPr>
    </p:bg>
    <p:spTree>
      <p:nvGrpSpPr>
        <p:cNvPr id="1" name=""/>
        <p:cNvGrpSpPr/>
        <p:nvPr/>
      </p:nvGrpSpPr>
      <p:grpSpPr/>
      <p:sp>
        <p:nvSpPr>
          <p:cNvPr id="2" name="TextBox 1"/>
          <p:cNvSpPr txBox="1"/>
          <p:nvPr/>
        </p:nvSpPr>
        <p:spPr>
          <a:xfrm>
            <a:off x="640080" y="365760"/>
            <a:ext cx="7315200" cy="365760"/>
          </a:xfrm>
          <a:prstGeom prst="rect">
            <a:avLst/>
          </a:prstGeom>
          <a:noFill/>
        </p:spPr>
        <p:txBody>
          <a:bodyPr wrap="square">
            <a:spAutoFit/>
          </a:bodyPr>
          <a:lstStyle/>
          <a:p>
            <a:pPr algn="l"/>
            <a:r>
              <a:rPr sz="1400" b="1" i="0">
                <a:solidFill>
                  <a:srgbClr val="39C0C5"/>
                </a:solidFill>
                <a:latin typeface="Segoe UI"/>
              </a:rPr>
              <a:t>LIVE DEMO</a:t>
            </a:r>
          </a:p>
        </p:txBody>
      </p:sp>
      <p:sp>
        <p:nvSpPr>
          <p:cNvPr id="3" name="TextBox 2"/>
          <p:cNvSpPr txBox="1"/>
          <p:nvPr/>
        </p:nvSpPr>
        <p:spPr>
          <a:xfrm>
            <a:off x="640080" y="685800"/>
            <a:ext cx="10972800" cy="822960"/>
          </a:xfrm>
          <a:prstGeom prst="rect">
            <a:avLst/>
          </a:prstGeom>
          <a:noFill/>
        </p:spPr>
        <p:txBody>
          <a:bodyPr wrap="square">
            <a:spAutoFit/>
          </a:bodyPr>
          <a:lstStyle/>
          <a:p>
            <a:pPr algn="l"/>
            <a:r>
              <a:rPr sz="3200" b="1" i="0">
                <a:solidFill>
                  <a:srgbClr val="F4F7FB"/>
                </a:solidFill>
                <a:latin typeface="Segoe UI"/>
              </a:rPr>
              <a:t>"Why did the checkout deploy fail?"</a:t>
            </a:r>
          </a:p>
        </p:txBody>
      </p:sp>
      <p:sp>
        <p:nvSpPr>
          <p:cNvPr id="4" name="Rectangle 3"/>
          <p:cNvSpPr/>
          <p:nvPr/>
        </p:nvSpPr>
        <p:spPr>
          <a:xfrm>
            <a:off x="658368" y="1463040"/>
            <a:ext cx="1005840" cy="50800"/>
          </a:xfrm>
          <a:prstGeom prst="rect">
            <a:avLst/>
          </a:prstGeom>
          <a:solidFill>
            <a:srgbClr val="39C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85800" y="1965960"/>
            <a:ext cx="411480" cy="411480"/>
          </a:xfrm>
          <a:prstGeom prst="ellipse">
            <a:avLst/>
          </a:prstGeom>
          <a:solidFill>
            <a:srgbClr val="39C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422"/>
                </a:solidFill>
                <a:latin typeface="Segoe UI"/>
              </a:rPr>
              <a:t>1</a:t>
            </a:r>
          </a:p>
        </p:txBody>
      </p:sp>
      <p:sp>
        <p:nvSpPr>
          <p:cNvPr id="6" name="TextBox 5"/>
          <p:cNvSpPr txBox="1"/>
          <p:nvPr/>
        </p:nvSpPr>
        <p:spPr>
          <a:xfrm>
            <a:off x="1280160" y="1993392"/>
            <a:ext cx="10058400" cy="548640"/>
          </a:xfrm>
          <a:prstGeom prst="rect">
            <a:avLst/>
          </a:prstGeom>
          <a:noFill/>
        </p:spPr>
        <p:txBody>
          <a:bodyPr wrap="square">
            <a:spAutoFit/>
          </a:bodyPr>
          <a:lstStyle/>
          <a:p>
            <a:pPr algn="l"/>
            <a:r>
              <a:rPr sz="1700" b="0" i="0">
                <a:solidFill>
                  <a:srgbClr val="F4F7FB"/>
                </a:solidFill>
                <a:latin typeface="Segoe UI"/>
              </a:rPr>
              <a:t>User asks the question in the chat UI</a:t>
            </a:r>
          </a:p>
        </p:txBody>
      </p:sp>
      <p:sp>
        <p:nvSpPr>
          <p:cNvPr id="7" name="Oval 6"/>
          <p:cNvSpPr/>
          <p:nvPr/>
        </p:nvSpPr>
        <p:spPr>
          <a:xfrm>
            <a:off x="685800" y="2679192"/>
            <a:ext cx="411480" cy="411480"/>
          </a:xfrm>
          <a:prstGeom prst="ellipse">
            <a:avLst/>
          </a:prstGeom>
          <a:solidFill>
            <a:srgbClr val="39C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422"/>
                </a:solidFill>
                <a:latin typeface="Segoe UI"/>
              </a:rPr>
              <a:t>2</a:t>
            </a:r>
          </a:p>
        </p:txBody>
      </p:sp>
      <p:sp>
        <p:nvSpPr>
          <p:cNvPr id="8" name="TextBox 7"/>
          <p:cNvSpPr txBox="1"/>
          <p:nvPr/>
        </p:nvSpPr>
        <p:spPr>
          <a:xfrm>
            <a:off x="1280160" y="2706624"/>
            <a:ext cx="10058400" cy="548640"/>
          </a:xfrm>
          <a:prstGeom prst="rect">
            <a:avLst/>
          </a:prstGeom>
          <a:noFill/>
        </p:spPr>
        <p:txBody>
          <a:bodyPr wrap="square">
            <a:spAutoFit/>
          </a:bodyPr>
          <a:lstStyle/>
          <a:p>
            <a:pPr algn="l"/>
            <a:r>
              <a:rPr sz="1700" b="0" i="0">
                <a:solidFill>
                  <a:srgbClr val="F4F7FB"/>
                </a:solidFill>
                <a:latin typeface="Segoe UI"/>
              </a:rPr>
              <a:t>Orchestrator calls search_error_logs(query=…)</a:t>
            </a:r>
          </a:p>
        </p:txBody>
      </p:sp>
      <p:sp>
        <p:nvSpPr>
          <p:cNvPr id="9" name="Oval 8"/>
          <p:cNvSpPr/>
          <p:nvPr/>
        </p:nvSpPr>
        <p:spPr>
          <a:xfrm>
            <a:off x="685800" y="3392424"/>
            <a:ext cx="411480" cy="411480"/>
          </a:xfrm>
          <a:prstGeom prst="ellipse">
            <a:avLst/>
          </a:prstGeom>
          <a:solidFill>
            <a:srgbClr val="39C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422"/>
                </a:solidFill>
                <a:latin typeface="Segoe UI"/>
              </a:rPr>
              <a:t>3</a:t>
            </a:r>
          </a:p>
        </p:txBody>
      </p:sp>
      <p:sp>
        <p:nvSpPr>
          <p:cNvPr id="10" name="TextBox 9"/>
          <p:cNvSpPr txBox="1"/>
          <p:nvPr/>
        </p:nvSpPr>
        <p:spPr>
          <a:xfrm>
            <a:off x="1280160" y="3419856"/>
            <a:ext cx="10058400" cy="548640"/>
          </a:xfrm>
          <a:prstGeom prst="rect">
            <a:avLst/>
          </a:prstGeom>
          <a:noFill/>
        </p:spPr>
        <p:txBody>
          <a:bodyPr wrap="square">
            <a:spAutoFit/>
          </a:bodyPr>
          <a:lstStyle/>
          <a:p>
            <a:pPr algn="l"/>
            <a:r>
              <a:rPr sz="1700" b="0" i="0">
                <a:solidFill>
                  <a:srgbClr val="F4F7FB"/>
                </a:solidFill>
                <a:latin typeface="Segoe UI"/>
              </a:rPr>
              <a:t>Query is embedded (NVIDIA NIM) and matched against pgvector log_chunks</a:t>
            </a:r>
          </a:p>
        </p:txBody>
      </p:sp>
      <p:sp>
        <p:nvSpPr>
          <p:cNvPr id="11" name="Oval 10"/>
          <p:cNvSpPr/>
          <p:nvPr/>
        </p:nvSpPr>
        <p:spPr>
          <a:xfrm>
            <a:off x="685800" y="4105656"/>
            <a:ext cx="411480" cy="411480"/>
          </a:xfrm>
          <a:prstGeom prst="ellipse">
            <a:avLst/>
          </a:prstGeom>
          <a:solidFill>
            <a:srgbClr val="39C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422"/>
                </a:solidFill>
                <a:latin typeface="Segoe UI"/>
              </a:rPr>
              <a:t>4</a:t>
            </a:r>
          </a:p>
        </p:txBody>
      </p:sp>
      <p:sp>
        <p:nvSpPr>
          <p:cNvPr id="12" name="TextBox 11"/>
          <p:cNvSpPr txBox="1"/>
          <p:nvPr/>
        </p:nvSpPr>
        <p:spPr>
          <a:xfrm>
            <a:off x="1280160" y="4133088"/>
            <a:ext cx="10058400" cy="548640"/>
          </a:xfrm>
          <a:prstGeom prst="rect">
            <a:avLst/>
          </a:prstGeom>
          <a:noFill/>
        </p:spPr>
        <p:txBody>
          <a:bodyPr wrap="square">
            <a:spAutoFit/>
          </a:bodyPr>
          <a:lstStyle/>
          <a:p>
            <a:pPr algn="l"/>
            <a:r>
              <a:rPr sz="1700" b="0" i="0">
                <a:solidFill>
                  <a:srgbClr val="F4F7FB"/>
                </a:solidFill>
                <a:latin typeface="Segoe UI"/>
              </a:rPr>
              <a:t>Top matching log line comes back (e.g. a 500 error spike → rollback)</a:t>
            </a:r>
          </a:p>
        </p:txBody>
      </p:sp>
      <p:sp>
        <p:nvSpPr>
          <p:cNvPr id="13" name="Oval 12"/>
          <p:cNvSpPr/>
          <p:nvPr/>
        </p:nvSpPr>
        <p:spPr>
          <a:xfrm>
            <a:off x="685800" y="4818888"/>
            <a:ext cx="411480" cy="411480"/>
          </a:xfrm>
          <a:prstGeom prst="ellipse">
            <a:avLst/>
          </a:prstGeom>
          <a:solidFill>
            <a:srgbClr val="39C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422"/>
                </a:solidFill>
                <a:latin typeface="Segoe UI"/>
              </a:rPr>
              <a:t>5</a:t>
            </a:r>
          </a:p>
        </p:txBody>
      </p:sp>
      <p:sp>
        <p:nvSpPr>
          <p:cNvPr id="14" name="TextBox 13"/>
          <p:cNvSpPr txBox="1"/>
          <p:nvPr/>
        </p:nvSpPr>
        <p:spPr>
          <a:xfrm>
            <a:off x="1280160" y="4846320"/>
            <a:ext cx="10058400" cy="548640"/>
          </a:xfrm>
          <a:prstGeom prst="rect">
            <a:avLst/>
          </a:prstGeom>
          <a:noFill/>
        </p:spPr>
        <p:txBody>
          <a:bodyPr wrap="square">
            <a:spAutoFit/>
          </a:bodyPr>
          <a:lstStyle/>
          <a:p>
            <a:pPr algn="l"/>
            <a:r>
              <a:rPr sz="1700" b="0" i="0">
                <a:solidFill>
                  <a:srgbClr val="F4F7FB"/>
                </a:solidFill>
                <a:latin typeface="Segoe UI"/>
              </a:rPr>
              <a:t>Agent replies citing the specific log line — not a generic guess</a:t>
            </a:r>
          </a:p>
        </p:txBody>
      </p:sp>
      <p:sp>
        <p:nvSpPr>
          <p:cNvPr id="15" name="TextBox 14"/>
          <p:cNvSpPr txBox="1"/>
          <p:nvPr/>
        </p:nvSpPr>
        <p:spPr>
          <a:xfrm>
            <a:off x="640080" y="6035040"/>
            <a:ext cx="10698480" cy="548640"/>
          </a:xfrm>
          <a:prstGeom prst="rect">
            <a:avLst/>
          </a:prstGeom>
          <a:noFill/>
        </p:spPr>
        <p:txBody>
          <a:bodyPr wrap="square">
            <a:spAutoFit/>
          </a:bodyPr>
          <a:lstStyle/>
          <a:p>
            <a:pPr algn="l"/>
            <a:r>
              <a:rPr sz="1500" b="1" i="1">
                <a:solidFill>
                  <a:srgbClr val="39C0C5"/>
                </a:solidFill>
                <a:latin typeface="Segoe UI"/>
              </a:rPr>
              <a:t>→ switching to the live app now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422"/>
        </a:solidFill>
        <a:effectLst/>
      </p:bgPr>
    </p:bg>
    <p:spTree>
      <p:nvGrpSpPr>
        <p:cNvPr id="1" name=""/>
        <p:cNvGrpSpPr/>
        <p:nvPr/>
      </p:nvGrpSpPr>
      <p:grpSpPr/>
      <p:sp>
        <p:nvSpPr>
          <p:cNvPr id="2" name="TextBox 1"/>
          <p:cNvSpPr txBox="1"/>
          <p:nvPr/>
        </p:nvSpPr>
        <p:spPr>
          <a:xfrm>
            <a:off x="640080" y="365760"/>
            <a:ext cx="7315200" cy="365760"/>
          </a:xfrm>
          <a:prstGeom prst="rect">
            <a:avLst/>
          </a:prstGeom>
          <a:noFill/>
        </p:spPr>
        <p:txBody>
          <a:bodyPr wrap="square">
            <a:spAutoFit/>
          </a:bodyPr>
          <a:lstStyle/>
          <a:p>
            <a:pPr algn="l"/>
            <a:r>
              <a:rPr sz="1400" b="1" i="0">
                <a:solidFill>
                  <a:srgbClr val="39C0C5"/>
                </a:solidFill>
                <a:latin typeface="Segoe UI"/>
              </a:rPr>
              <a:t>WHAT'S NEXT</a:t>
            </a:r>
          </a:p>
        </p:txBody>
      </p:sp>
      <p:sp>
        <p:nvSpPr>
          <p:cNvPr id="3" name="TextBox 2"/>
          <p:cNvSpPr txBox="1"/>
          <p:nvPr/>
        </p:nvSpPr>
        <p:spPr>
          <a:xfrm>
            <a:off x="640080" y="685800"/>
            <a:ext cx="10972800" cy="822960"/>
          </a:xfrm>
          <a:prstGeom prst="rect">
            <a:avLst/>
          </a:prstGeom>
          <a:noFill/>
        </p:spPr>
        <p:txBody>
          <a:bodyPr wrap="square">
            <a:spAutoFit/>
          </a:bodyPr>
          <a:lstStyle/>
          <a:p>
            <a:pPr algn="l"/>
            <a:r>
              <a:rPr sz="3200" b="1" i="0">
                <a:solidFill>
                  <a:srgbClr val="F4F7FB"/>
                </a:solidFill>
                <a:latin typeface="Segoe UI"/>
              </a:rPr>
              <a:t>Roadmap</a:t>
            </a:r>
          </a:p>
        </p:txBody>
      </p:sp>
      <p:sp>
        <p:nvSpPr>
          <p:cNvPr id="4" name="Rectangle 3"/>
          <p:cNvSpPr/>
          <p:nvPr/>
        </p:nvSpPr>
        <p:spPr>
          <a:xfrm>
            <a:off x="658368" y="1463040"/>
            <a:ext cx="1005840" cy="50800"/>
          </a:xfrm>
          <a:prstGeom prst="rect">
            <a:avLst/>
          </a:prstGeom>
          <a:solidFill>
            <a:srgbClr val="39C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65960"/>
            <a:ext cx="10698480" cy="4114800"/>
          </a:xfrm>
          <a:prstGeom prst="rect">
            <a:avLst/>
          </a:prstGeom>
          <a:noFill/>
        </p:spPr>
        <p:txBody>
          <a:bodyPr wrap="square">
            <a:spAutoFit/>
          </a:bodyPr>
          <a:lstStyle/>
          <a:p>
            <a:pPr>
              <a:lnSpc>
                <a:spcPct val="115000"/>
              </a:lnSpc>
              <a:spcAft>
                <a:spcPts val="1600"/>
              </a:spcAft>
            </a:pPr>
            <a:r>
              <a:rPr sz="1850" b="1">
                <a:solidFill>
                  <a:srgbClr val="39C0C5"/>
                </a:solidFill>
                <a:latin typeface="Segoe UI"/>
              </a:rPr>
              <a:t>Real monitoring provider  </a:t>
            </a:r>
            <a:r>
              <a:rPr sz="1850">
                <a:solidFill>
                  <a:srgbClr val="F4F7FB"/>
                </a:solidFill>
                <a:latin typeface="Segoe UI"/>
              </a:rPr>
              <a:t>wire in Datadog / Grafana / PagerDuty in place of the always-mock monitoring client</a:t>
            </a:r>
          </a:p>
          <a:p>
            <a:pPr>
              <a:lnSpc>
                <a:spcPct val="115000"/>
              </a:lnSpc>
              <a:spcAft>
                <a:spcPts val="1600"/>
              </a:spcAft>
            </a:pPr>
            <a:r>
              <a:rPr sz="1850" b="1">
                <a:solidFill>
                  <a:srgbClr val="39C0C5"/>
                </a:solidFill>
                <a:latin typeface="Segoe UI"/>
              </a:rPr>
              <a:t>More signal sources  </a:t>
            </a:r>
            <a:r>
              <a:rPr sz="1850">
                <a:solidFill>
                  <a:srgbClr val="F4F7FB"/>
                </a:solidFill>
                <a:latin typeface="Segoe UI"/>
              </a:rPr>
              <a:t>the integration pattern is a 2-step add — a client with fetch_summary() plus one tool registration, no orchestrator changes</a:t>
            </a:r>
          </a:p>
          <a:p>
            <a:pPr>
              <a:lnSpc>
                <a:spcPct val="115000"/>
              </a:lnSpc>
              <a:spcAft>
                <a:spcPts val="1600"/>
              </a:spcAft>
            </a:pPr>
            <a:r>
              <a:rPr sz="1850" b="1">
                <a:solidFill>
                  <a:srgbClr val="39C0C5"/>
                </a:solidFill>
                <a:latin typeface="Segoe UI"/>
              </a:rPr>
              <a:t>Production-grade rate limiting  </a:t>
            </a:r>
            <a:r>
              <a:rPr sz="1850">
                <a:solidFill>
                  <a:srgbClr val="F4F7FB"/>
                </a:solidFill>
                <a:latin typeface="Segoe UI"/>
              </a:rPr>
              <a:t>swap the in-memory per-IP limiter for a shared store before running multiple workers</a:t>
            </a:r>
          </a:p>
          <a:p>
            <a:pPr>
              <a:lnSpc>
                <a:spcPct val="115000"/>
              </a:lnSpc>
              <a:spcAft>
                <a:spcPts val="1600"/>
              </a:spcAft>
            </a:pPr>
            <a:r>
              <a:rPr sz="1850" b="1">
                <a:solidFill>
                  <a:srgbClr val="39C0C5"/>
                </a:solidFill>
                <a:latin typeface="Segoe UI"/>
              </a:rPr>
              <a:t>Multi-tenant / auth  </a:t>
            </a:r>
            <a:r>
              <a:rPr sz="1850">
                <a:solidFill>
                  <a:srgbClr val="F4F7FB"/>
                </a:solidFill>
                <a:latin typeface="Segoe UI"/>
              </a:rPr>
              <a:t>scope conversations and configured targets per team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422"/>
        </a:solidFill>
        <a:effectLst/>
      </p:bgPr>
    </p:bg>
    <p:spTree>
      <p:nvGrpSpPr>
        <p:cNvPr id="1" name=""/>
        <p:cNvGrpSpPr/>
        <p:nvPr/>
      </p:nvGrpSpPr>
      <p:grpSpPr/>
      <p:sp>
        <p:nvSpPr>
          <p:cNvPr id="2" name="TextBox 1"/>
          <p:cNvSpPr txBox="1"/>
          <p:nvPr/>
        </p:nvSpPr>
        <p:spPr>
          <a:xfrm>
            <a:off x="822960" y="2651760"/>
            <a:ext cx="10058400" cy="1097280"/>
          </a:xfrm>
          <a:prstGeom prst="rect">
            <a:avLst/>
          </a:prstGeom>
          <a:noFill/>
        </p:spPr>
        <p:txBody>
          <a:bodyPr wrap="square">
            <a:spAutoFit/>
          </a:bodyPr>
          <a:lstStyle/>
          <a:p>
            <a:pPr algn="l"/>
            <a:r>
              <a:rPr sz="4400" b="1" i="0">
                <a:solidFill>
                  <a:srgbClr val="F4F7FB"/>
                </a:solidFill>
                <a:latin typeface="Segoe UI"/>
              </a:rPr>
              <a:t>Thank you</a:t>
            </a:r>
          </a:p>
        </p:txBody>
      </p:sp>
      <p:sp>
        <p:nvSpPr>
          <p:cNvPr id="3" name="TextBox 2"/>
          <p:cNvSpPr txBox="1"/>
          <p:nvPr/>
        </p:nvSpPr>
        <p:spPr>
          <a:xfrm>
            <a:off x="822960" y="3474720"/>
            <a:ext cx="10058400" cy="548640"/>
          </a:xfrm>
          <a:prstGeom prst="rect">
            <a:avLst/>
          </a:prstGeom>
          <a:noFill/>
        </p:spPr>
        <p:txBody>
          <a:bodyPr wrap="square">
            <a:spAutoFit/>
          </a:bodyPr>
          <a:lstStyle/>
          <a:p>
            <a:pPr algn="l"/>
            <a:r>
              <a:rPr sz="2000" b="0" i="0">
                <a:solidFill>
                  <a:srgbClr val="A9B6C7"/>
                </a:solidFill>
                <a:latin typeface="Segoe UI"/>
              </a:rPr>
              <a:t>Questions?</a:t>
            </a:r>
          </a:p>
        </p:txBody>
      </p:sp>
      <p:sp>
        <p:nvSpPr>
          <p:cNvPr id="4" name="Rectangle 3"/>
          <p:cNvSpPr/>
          <p:nvPr/>
        </p:nvSpPr>
        <p:spPr>
          <a:xfrm>
            <a:off x="841248" y="2587752"/>
            <a:ext cx="1280160" cy="50800"/>
          </a:xfrm>
          <a:prstGeom prst="rect">
            <a:avLst/>
          </a:prstGeom>
          <a:solidFill>
            <a:srgbClr val="39C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126480"/>
            <a:ext cx="10058400" cy="365760"/>
          </a:xfrm>
          <a:prstGeom prst="rect">
            <a:avLst/>
          </a:prstGeom>
          <a:noFill/>
        </p:spPr>
        <p:txBody>
          <a:bodyPr wrap="square">
            <a:spAutoFit/>
          </a:bodyPr>
          <a:lstStyle/>
          <a:p>
            <a:pPr algn="l"/>
            <a:r>
              <a:rPr sz="1300" b="0" i="0">
                <a:solidFill>
                  <a:srgbClr val="A9B6C7"/>
                </a:solidFill>
                <a:latin typeface="Segoe UI"/>
              </a:rPr>
              <a:t>github.com/mahesh-ramineedi-minfy/ai-engineering-command-center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